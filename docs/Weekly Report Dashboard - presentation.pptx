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tool where team members file a structured weekly report and their manager reviews it - approve, or send it back with a comment. I'll cover the architecture, the database, the review workflow, access control, the AI assistant, and what I'd do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brief's premise. The fix isn't a better inbox - it's giving every report the same structure, so the same question can be asked of all of them at once. That single decision is what makes the dashboard and the section-comparison view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tiers, deliberately boring. The choice worth calling out is ddl-auto=validate: Hibernate is not allowed to change the schema, so the migrations are the only source of truth. If an entity and a migration disagree the application refuses to start - far better than finding out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Spring Boot 4 was newer than most documentation, which cost me time - that's under challenges.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 the ER diagram image here. The shape that matters: a report carries the week, the project and the status but none of the content. The content hangs off a report_version. That one split is what makes version history possible without duplicating a row per field.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is the sort of rule that gets enforced in a service method and then bypassed by a second code path six months later. In the database, it cannot be.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states, and every transition is checked server-side. The status is never something the client sends - it's the outcome of calling an action endpoint.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subtlety is when to fork. Forking on submit would leave a spare empty version whenever someone submits and never edits again. So the fork happens on the first edit after a submission - the frozen version stays exactly as the manager saw it, and the version count matches the number of real submissions.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Resources are nouns; a state change is an action sub-resource - /reports/{id}/submit, /approve, /request-changes - so the client never sends a status, it calls the transition. Every error comes out of one exception handler in one shape, and none of them echoes driver text or caller input. DTOs at the boundary means entities are never serialised, and unknown JSON properties are rejected, so smuggling a status or userId into a payload is a 400 rather than a silent drop. Both list endpoints paginate and filter, with a sort-property whitelist - ?sort=user.passwordHash is a 400, because Spring Data would otherwise happily order rows by the hash and leak information through the ordering.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404 is the detail I'd point to. If a peer's report answered 403 and a non-existent one answered 404, you could enumerate every report id in the system by watching which error came back. Same reasoning for the login message: a disabled account gets the same 'Invalid email or password' as a wrong password.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these caught a real hole: registration originally accepted a client-supplied role, so anyone could mint a manager account against a public endpoint and walk through every manager gate. Self-registration now always produces a team member.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this, demoting a manager took effect on their next request - authorities come from the database - but their session carried on and the sidebar kept showing manager links for up to an hour. The same mechanism means changing your password signs out your other devices, which is the whole point of changing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request goes through one client, which is what makes cross-cutting behaviour possible in one place: attaching the token, unwrapping the error shape, and signing the user out on a 401.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week picker is my favourite. Every one of those fields piped the value through mondayOf and threw the day away, so the native control was offering the wrong unit and hiding the snap. Now each row is one week: hover lights the whole Monday-Sunday row, and clicking anywhere in it selects that 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house rule that kept the UI honest. A button that always fails is worse than no button - and the exception proves it: the last-enabled-manager guard needs a database count, so the UI can't know in advance. That one shows the server's message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was the wrong fit - this data is relational and already has exact query paths. 'Reports needing correction in the week of the 7th' is a WHERE clause, not a similarity search.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roster is in the prompt because questions name people, and a tool taking a numeric id is useless without a way to resolve 'Priya' to it. Only id, name and role go in - the User entity carries the email and the password hash, and putting the whole object in the prompt would have sent both. The fourth rule is the safety one: task names and blockers are text a team member wrote, so the prompt says to treat all of it as data being reported on, never as instructions. The summary uses a separate, narrower prompt: three named sections, at most three sentences each, invent nothing.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text reaches the model as tool output, so someone could put 'ignore your instructions' in a blocker description. With no write tools there is nothing for a successful injection to do - that's structural, not a filter. Worth stating plainly: the free tier's terms allow prompts to train their models, which is fine for seeded fiction and would not be acceptable for real employee reports.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manual plan found 15 issues, which is the point of writing it down. One is worth mentioning: a wrong HTTP method returned '500 Something went wrong', which disguised a stale backend as a server fault. Every unit test passed while the endpoint was unreachable, because none of them goes through the dispatcher - so that gap is now covered by integration tests.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Flyway one cost me the most. flyway-core alone gives no error and no log line - migrations just never run, and Hibernate fails validation with 'missing table'. You need spring-boot-flyway as well.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 check is the one I'd build first. Both times the diagram went stale it was because nothing tied it back to the migrations - and the fix I applied makes the copies agree with each other, not with the truth.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happy to walk through any part of the code.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presented. These are the questions this codebase invites.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194560"/>
            <a:ext cx="10637215" cy="1371600"/>
          </a:xfrm>
          <a:prstGeom prst="rect">
            <a:avLst/>
          </a:prstGeom>
          <a:noFill/>
        </p:spPr>
        <p:txBody>
          <a:bodyPr wrap="square">
            <a:spAutoFit/>
          </a:bodyPr>
          <a:lstStyle/>
          <a:p>
            <a:pPr>
              <a:defRPr sz="4600" b="1">
                <a:solidFill>
                  <a:srgbClr val="513FD8"/>
                </a:solidFill>
              </a:defRPr>
            </a:pPr>
            <a:r>
              <a:t>Weekly Report Generator</a:t>
            </a:r>
            <a:br/>
            <a:r>
              <a:t>&amp; Team Dashboard</a:t>
            </a:r>
          </a:p>
        </p:txBody>
      </p:sp>
      <p:sp>
        <p:nvSpPr>
          <p:cNvPr id="3" name="TextBox 2"/>
          <p:cNvSpPr txBox="1"/>
          <p:nvPr/>
        </p:nvSpPr>
        <p:spPr>
          <a:xfrm>
            <a:off x="777240" y="3931920"/>
            <a:ext cx="10637215" cy="1097280"/>
          </a:xfrm>
          <a:prstGeom prst="rect">
            <a:avLst/>
          </a:prstGeom>
          <a:noFill/>
        </p:spPr>
        <p:txBody>
          <a:bodyPr wrap="square">
            <a:spAutoFit/>
          </a:bodyPr>
          <a:lstStyle/>
          <a:p>
            <a:pPr>
              <a:spcAft>
                <a:spcPts val="1000"/>
              </a:spcAft>
              <a:defRPr sz="2200">
                <a:solidFill>
                  <a:srgbClr val="1E293B"/>
                </a:solidFill>
              </a:defRPr>
            </a:pPr>
            <a:r>
              <a:t>Spring Boot 4  ·  React 19  ·  MySQL 8</a:t>
            </a:r>
          </a:p>
          <a:p>
            <a:pPr>
              <a:spcAft>
                <a:spcPts val="1000"/>
              </a:spcAft>
              <a:defRPr sz="1800">
                <a:solidFill>
                  <a:srgbClr val="5B6B84"/>
                </a:solidFill>
              </a:defRPr>
            </a:pPr>
            <a:r>
              <a:t>Sriranjan Kapilan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The problem it solves</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2000" b="1">
                <a:solidFill>
                  <a:srgbClr val="513FD8"/>
                </a:solidFill>
              </a:rPr>
              <a:t>•  </a:t>
            </a:r>
            <a:r>
              <a:rPr sz="2000" b="0">
                <a:solidFill>
                  <a:srgbClr val="1E293B"/>
                </a:solidFill>
              </a:rPr>
              <a:t>Weekly updates arrive as </a:t>
            </a:r>
            <a:r>
              <a:rPr sz="2000" b="1">
                <a:solidFill>
                  <a:srgbClr val="1E293B"/>
                </a:solidFill>
              </a:rPr>
              <a:t>free-form chat messages and emails</a:t>
            </a:r>
          </a:p>
          <a:p>
            <a:pPr>
              <a:lnSpc>
                <a:spcPct val="115000"/>
              </a:lnSpc>
              <a:spcAft>
                <a:spcPts val="1400"/>
              </a:spcAft>
            </a:pPr>
            <a:r>
              <a:rPr sz="2000" b="1">
                <a:solidFill>
                  <a:srgbClr val="513FD8"/>
                </a:solidFill>
              </a:rPr>
              <a:t>•  </a:t>
            </a:r>
            <a:r>
              <a:rPr sz="2000" b="0">
                <a:solidFill>
                  <a:srgbClr val="1E293B"/>
                </a:solidFill>
              </a:rPr>
              <a:t>Nothing is comparable, nothing is searchable, nothing is aggregable</a:t>
            </a:r>
          </a:p>
          <a:p>
            <a:pPr>
              <a:lnSpc>
                <a:spcPct val="115000"/>
              </a:lnSpc>
              <a:spcAft>
                <a:spcPts val="1400"/>
              </a:spcAft>
            </a:pPr>
            <a:r>
              <a:rPr sz="2000" b="1">
                <a:solidFill>
                  <a:srgbClr val="513FD8"/>
                </a:solidFill>
              </a:rPr>
              <a:t>•  </a:t>
            </a:r>
            <a:r>
              <a:rPr sz="2000" b="0">
                <a:solidFill>
                  <a:srgbClr val="1E293B"/>
                </a:solidFill>
              </a:rPr>
              <a:t>A manager cannot answer “who is blocked this week?” without reading everything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Architecture at a glance</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828800"/>
            <a:ext cx="10637215" cy="950976"/>
          </a:xfrm>
          <a:prstGeom prst="rect">
            <a:avLst/>
          </a:prstGeom>
          <a:solidFill>
            <a:srgbClr val="F1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6032" tIns="146304"/>
          <a:lstStyle/>
          <a:p>
            <a:pPr algn="l">
              <a:defRPr sz="1500">
                <a:solidFill>
                  <a:srgbClr val="242C3D"/>
                </a:solidFill>
                <a:latin typeface="Consolas"/>
              </a:defRPr>
            </a:pPr>
            <a:r>
              <a:t>React 19 SPA  ──HTTP + JWT──▶  Spring Boot 4.1.1 REST API  ──JPA──▶  MySQL 8</a:t>
            </a:r>
          </a:p>
          <a:p>
            <a:pPr algn="l">
              <a:defRPr sz="1500">
                <a:solidFill>
                  <a:srgbClr val="242C3D"/>
                </a:solidFill>
                <a:latin typeface="Consolas"/>
              </a:defRPr>
            </a:pPr>
            <a:r>
              <a:t>(Vite, Tailwind 4)              33 endpoints                        9 tables, Flyway</a:t>
            </a:r>
          </a:p>
        </p:txBody>
      </p:sp>
      <p:sp>
        <p:nvSpPr>
          <p:cNvPr id="5" name="TextBox 4"/>
          <p:cNvSpPr txBox="1"/>
          <p:nvPr/>
        </p:nvSpPr>
        <p:spPr>
          <a:xfrm>
            <a:off x="777240" y="3099816"/>
            <a:ext cx="10637215" cy="3209544"/>
          </a:xfrm>
          <a:prstGeom prst="rect">
            <a:avLst/>
          </a:prstGeom>
          <a:noFill/>
        </p:spPr>
        <p:txBody>
          <a:bodyPr wrap="square">
            <a:spAutoFit/>
          </a:bodyPr>
          <a:lstStyle/>
          <a:p>
            <a:pPr>
              <a:lnSpc>
                <a:spcPct val="115000"/>
              </a:lnSpc>
              <a:spcAft>
                <a:spcPts val="1400"/>
              </a:spcAft>
            </a:pPr>
            <a:r>
              <a:rPr sz="2000" b="1">
                <a:solidFill>
                  <a:srgbClr val="513FD8"/>
                </a:solidFill>
              </a:rPr>
              <a:t>•  </a:t>
            </a:r>
            <a:r>
              <a:rPr sz="2000" b="1">
                <a:solidFill>
                  <a:srgbClr val="1E293B"/>
                </a:solidFill>
              </a:rPr>
              <a:t>Stateless</a:t>
            </a:r>
            <a:r>
              <a:rPr sz="2000" b="0">
                <a:solidFill>
                  <a:srgbClr val="1E293B"/>
                </a:solidFill>
              </a:rPr>
              <a:t> — no server session; the JWT is the whole request context</a:t>
            </a:r>
          </a:p>
          <a:p>
            <a:pPr>
              <a:lnSpc>
                <a:spcPct val="115000"/>
              </a:lnSpc>
              <a:spcAft>
                <a:spcPts val="1400"/>
              </a:spcAft>
            </a:pPr>
            <a:r>
              <a:rPr sz="2000" b="1">
                <a:solidFill>
                  <a:srgbClr val="513FD8"/>
                </a:solidFill>
              </a:rPr>
              <a:t>•  </a:t>
            </a:r>
            <a:r>
              <a:rPr sz="2000" b="1">
                <a:solidFill>
                  <a:srgbClr val="1E293B"/>
                </a:solidFill>
              </a:rPr>
              <a:t>Layered backend</a:t>
            </a:r>
            <a:r>
              <a:rPr sz="2000" b="0">
                <a:solidFill>
                  <a:srgbClr val="1E293B"/>
                </a:solidFill>
              </a:rPr>
              <a:t> — Controller → Service → Repository, DTOs at the boundary</a:t>
            </a:r>
          </a:p>
          <a:p>
            <a:pPr>
              <a:lnSpc>
                <a:spcPct val="115000"/>
              </a:lnSpc>
              <a:spcAft>
                <a:spcPts val="1400"/>
              </a:spcAft>
            </a:pPr>
            <a:r>
              <a:rPr sz="2000" b="1">
                <a:solidFill>
                  <a:srgbClr val="513FD8"/>
                </a:solidFill>
              </a:rPr>
              <a:t>•  </a:t>
            </a:r>
            <a:r>
              <a:rPr sz="2000" b="1">
                <a:solidFill>
                  <a:srgbClr val="1E293B"/>
                </a:solidFill>
              </a:rPr>
              <a:t>Schema owned by Flyway</a:t>
            </a:r>
            <a:r>
              <a:rPr sz="2000" b="0">
                <a:solidFill>
                  <a:srgbClr val="1E293B"/>
                </a:solidFill>
              </a:rPr>
              <a:t>, ddl-auto=validate — Hibernate never alters a 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Why these technologies</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874519"/>
          <a:ext cx="10637214" cy="2688336"/>
        </p:xfrm>
        <a:graphic>
          <a:graphicData uri="http://schemas.openxmlformats.org/drawingml/2006/table">
            <a:tbl>
              <a:tblPr firstRow="1" bandRow="1">
                <a:tableStyleId>{5C22544A-7EE6-4342-B048-85BDC9FD1C3A}</a:tableStyleId>
              </a:tblPr>
              <a:tblGrid>
                <a:gridCol w="2978420"/>
                <a:gridCol w="7658794"/>
              </a:tblGrid>
              <a:tr h="384048">
                <a:tc>
                  <a:txBody>
                    <a:bodyPr/>
                    <a:lstStyle/>
                    <a:p>
                      <a:pPr>
                        <a:defRPr sz="1500" b="1">
                          <a:solidFill>
                            <a:srgbClr val="FFFFFF"/>
                          </a:solidFill>
                        </a:defRPr>
                      </a:pPr>
                      <a:r>
                        <a:t>Choice</a:t>
                      </a:r>
                    </a:p>
                  </a:txBody>
                  <a:tcPr marL="128016"/>
                </a:tc>
                <a:tc>
                  <a:txBody>
                    <a:bodyPr/>
                    <a:lstStyle/>
                    <a:p>
                      <a:pPr>
                        <a:defRPr sz="1500" b="1">
                          <a:solidFill>
                            <a:srgbClr val="FFFFFF"/>
                          </a:solidFill>
                        </a:defRPr>
                      </a:pPr>
                      <a:r>
                        <a:t>Reason</a:t>
                      </a:r>
                    </a:p>
                  </a:txBody>
                  <a:tcPr marL="128016"/>
                </a:tc>
              </a:tr>
              <a:tr h="384048">
                <a:tc>
                  <a:txBody>
                    <a:bodyPr/>
                    <a:lstStyle/>
                    <a:p>
                      <a:pPr>
                        <a:defRPr sz="1500" b="0">
                          <a:solidFill>
                            <a:srgbClr val="1E293B"/>
                          </a:solidFill>
                        </a:defRPr>
                      </a:pPr>
                      <a:r>
                        <a:t>Spring Boot 4 / Java 21</a:t>
                      </a:r>
                    </a:p>
                  </a:txBody>
                  <a:tcPr marL="128016"/>
                </a:tc>
                <a:tc>
                  <a:txBody>
                    <a:bodyPr/>
                    <a:lstStyle/>
                    <a:p>
                      <a:pPr>
                        <a:defRPr sz="1500" b="0">
                          <a:solidFill>
                            <a:srgbClr val="1E293B"/>
                          </a:solidFill>
                        </a:defRPr>
                      </a:pPr>
                      <a:r>
                        <a:t>Records for DTOs, mature security, wide ecosystem</a:t>
                      </a:r>
                    </a:p>
                  </a:txBody>
                  <a:tcPr marL="128016"/>
                </a:tc>
              </a:tr>
              <a:tr h="384048">
                <a:tc>
                  <a:txBody>
                    <a:bodyPr/>
                    <a:lstStyle/>
                    <a:p>
                      <a:pPr>
                        <a:defRPr sz="1500" b="0">
                          <a:solidFill>
                            <a:srgbClr val="1E293B"/>
                          </a:solidFill>
                        </a:defRPr>
                      </a:pPr>
                      <a:r>
                        <a:t>JWT, not sessions</a:t>
                      </a:r>
                    </a:p>
                  </a:txBody>
                  <a:tcPr marL="128016"/>
                </a:tc>
                <a:tc>
                  <a:txBody>
                    <a:bodyPr/>
                    <a:lstStyle/>
                    <a:p>
                      <a:pPr>
                        <a:defRPr sz="1500" b="0">
                          <a:solidFill>
                            <a:srgbClr val="1E293B"/>
                          </a:solidFill>
                        </a:defRPr>
                      </a:pPr>
                      <a:r>
                        <a:t>Stateless — no sticky sessions, scales horizontally</a:t>
                      </a:r>
                    </a:p>
                  </a:txBody>
                  <a:tcPr marL="128016"/>
                </a:tc>
              </a:tr>
              <a:tr h="384048">
                <a:tc>
                  <a:txBody>
                    <a:bodyPr/>
                    <a:lstStyle/>
                    <a:p>
                      <a:pPr>
                        <a:defRPr sz="1500" b="0">
                          <a:solidFill>
                            <a:srgbClr val="1E293B"/>
                          </a:solidFill>
                        </a:defRPr>
                      </a:pPr>
                      <a:r>
                        <a:t>Flyway</a:t>
                      </a:r>
                    </a:p>
                  </a:txBody>
                  <a:tcPr marL="128016"/>
                </a:tc>
                <a:tc>
                  <a:txBody>
                    <a:bodyPr/>
                    <a:lstStyle/>
                    <a:p>
                      <a:pPr>
                        <a:defRPr sz="1500" b="0">
                          <a:solidFill>
                            <a:srgbClr val="1E293B"/>
                          </a:solidFill>
                        </a:defRPr>
                      </a:pPr>
                      <a:r>
                        <a:t>Schema is versioned code, reviewable in a diff</a:t>
                      </a:r>
                    </a:p>
                  </a:txBody>
                  <a:tcPr marL="128016"/>
                </a:tc>
              </a:tr>
              <a:tr h="384048">
                <a:tc>
                  <a:txBody>
                    <a:bodyPr/>
                    <a:lstStyle/>
                    <a:p>
                      <a:pPr>
                        <a:defRPr sz="1500" b="0">
                          <a:solidFill>
                            <a:srgbClr val="1E293B"/>
                          </a:solidFill>
                        </a:defRPr>
                      </a:pPr>
                      <a:r>
                        <a:t>React + TypeScript</a:t>
                      </a:r>
                    </a:p>
                  </a:txBody>
                  <a:tcPr marL="128016"/>
                </a:tc>
                <a:tc>
                  <a:txBody>
                    <a:bodyPr/>
                    <a:lstStyle/>
                    <a:p>
                      <a:pPr>
                        <a:defRPr sz="1500" b="0">
                          <a:solidFill>
                            <a:srgbClr val="1E293B"/>
                          </a:solidFill>
                        </a:defRPr>
                      </a:pPr>
                      <a:r>
                        <a:t>Backend enums become literal unions — a wrong status won't compile</a:t>
                      </a:r>
                    </a:p>
                  </a:txBody>
                  <a:tcPr marL="128016"/>
                </a:tc>
              </a:tr>
              <a:tr h="384048">
                <a:tc>
                  <a:txBody>
                    <a:bodyPr/>
                    <a:lstStyle/>
                    <a:p>
                      <a:pPr>
                        <a:defRPr sz="1500" b="0">
                          <a:solidFill>
                            <a:srgbClr val="1E293B"/>
                          </a:solidFill>
                        </a:defRPr>
                      </a:pPr>
                      <a:r>
                        <a:t>Tailwind 4</a:t>
                      </a:r>
                    </a:p>
                  </a:txBody>
                  <a:tcPr marL="128016"/>
                </a:tc>
                <a:tc>
                  <a:txBody>
                    <a:bodyPr/>
                    <a:lstStyle/>
                    <a:p>
                      <a:pPr>
                        <a:defRPr sz="1500" b="0">
                          <a:solidFill>
                            <a:srgbClr val="1E293B"/>
                          </a:solidFill>
                        </a:defRPr>
                      </a:pPr>
                      <a:r>
                        <a:t>CSS-first config; one token file retunes the whole app</a:t>
                      </a:r>
                    </a:p>
                  </a:txBody>
                  <a:tcPr marL="128016"/>
                </a:tc>
              </a:tr>
              <a:tr h="384048">
                <a:tc>
                  <a:txBody>
                    <a:bodyPr/>
                    <a:lstStyle/>
                    <a:p>
                      <a:pPr>
                        <a:defRPr sz="1500" b="0">
                          <a:solidFill>
                            <a:srgbClr val="1E293B"/>
                          </a:solidFill>
                        </a:defRPr>
                      </a:pPr>
                      <a:r>
                        <a:t>No chart library</a:t>
                      </a:r>
                    </a:p>
                  </a:txBody>
                  <a:tcPr marL="128016"/>
                </a:tc>
                <a:tc>
                  <a:txBody>
                    <a:bodyPr/>
                    <a:lstStyle/>
                    <a:p>
                      <a:pPr>
                        <a:defRPr sz="1500" b="0">
                          <a:solidFill>
                            <a:srgbClr val="1E293B"/>
                          </a:solidFill>
                        </a:defRPr>
                      </a:pPr>
                      <a:r>
                        <a:t>Four simple charts — see the frontend slide</a:t>
                      </a:r>
                    </a:p>
                  </a:txBody>
                  <a:tcPr marL="128016"/>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Database design</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89888"/>
            <a:ext cx="10637215" cy="411480"/>
          </a:xfrm>
          <a:prstGeom prst="rect">
            <a:avLst/>
          </a:prstGeom>
          <a:noFill/>
        </p:spPr>
        <p:txBody>
          <a:bodyPr wrap="square">
            <a:spAutoFit/>
          </a:bodyPr>
          <a:lstStyle/>
          <a:p>
            <a:pPr>
              <a:defRPr sz="1500" i="1">
                <a:solidFill>
                  <a:srgbClr val="5B6B84"/>
                </a:solidFill>
              </a:defRPr>
            </a:pPr>
            <a:r>
              <a:t>9 tables · 4 Flyway migrations</a:t>
            </a:r>
          </a:p>
        </p:txBody>
      </p:sp>
      <p:sp>
        <p:nvSpPr>
          <p:cNvPr id="5" name="TextBox 4"/>
          <p:cNvSpPr txBox="1"/>
          <p:nvPr/>
        </p:nvSpPr>
        <p:spPr>
          <a:xfrm>
            <a:off x="777240" y="2057400"/>
            <a:ext cx="10637215" cy="4251960"/>
          </a:xfrm>
          <a:prstGeom prst="rect">
            <a:avLst/>
          </a:prstGeom>
          <a:noFill/>
        </p:spPr>
        <p:txBody>
          <a:bodyPr wrap="square">
            <a:spAutoFit/>
          </a:bodyPr>
          <a:lstStyle/>
          <a:p>
            <a:pPr>
              <a:lnSpc>
                <a:spcPct val="115000"/>
              </a:lnSpc>
              <a:spcAft>
                <a:spcPts val="1400"/>
              </a:spcAft>
            </a:pPr>
            <a:r>
              <a:rPr sz="2000" b="1">
                <a:solidFill>
                  <a:srgbClr val="513FD8"/>
                </a:solidFill>
              </a:rPr>
              <a:t>•  </a:t>
            </a:r>
            <a:r>
              <a:rPr sz="2000" b="0">
                <a:solidFill>
                  <a:srgbClr val="1E293B"/>
                </a:solidFill>
              </a:rPr>
              <a:t>users · projects · reports · report_versions · review_comments</a:t>
            </a:r>
          </a:p>
          <a:p>
            <a:pPr>
              <a:lnSpc>
                <a:spcPct val="115000"/>
              </a:lnSpc>
              <a:spcAft>
                <a:spcPts val="1400"/>
              </a:spcAft>
            </a:pPr>
            <a:r>
              <a:rPr sz="2000" b="1">
                <a:solidFill>
                  <a:srgbClr val="513FD8"/>
                </a:solidFill>
              </a:rPr>
              <a:t>•  </a:t>
            </a:r>
            <a:r>
              <a:rPr sz="2000" b="0">
                <a:solidFill>
                  <a:srgbClr val="1E293B"/>
                </a:solidFill>
              </a:rPr>
              <a:t>task_entries · blockers · achievements · hours_entries</a:t>
            </a:r>
          </a:p>
          <a:p>
            <a:pPr>
              <a:lnSpc>
                <a:spcPct val="115000"/>
              </a:lnSpc>
              <a:spcAft>
                <a:spcPts val="1400"/>
              </a:spcAft>
            </a:pPr>
            <a:r>
              <a:rPr sz="2000" b="1">
                <a:solidFill>
                  <a:srgbClr val="513FD8"/>
                </a:solidFill>
              </a:rPr>
              <a:t>•  </a:t>
            </a:r>
            <a:r>
              <a:rPr sz="2000" b="0">
                <a:solidFill>
                  <a:srgbClr val="1E293B"/>
                </a:solidFill>
              </a:rPr>
              <a:t>A report carries the week, project and status — </a:t>
            </a:r>
            <a:r>
              <a:rPr sz="2000" b="1">
                <a:solidFill>
                  <a:srgbClr val="1E293B"/>
                </a:solidFill>
              </a:rPr>
              <a:t>none of the content</a:t>
            </a:r>
          </a:p>
          <a:p>
            <a:pPr>
              <a:lnSpc>
                <a:spcPct val="115000"/>
              </a:lnSpc>
              <a:spcAft>
                <a:spcPts val="1400"/>
              </a:spcAft>
            </a:pPr>
            <a:r>
              <a:rPr sz="2000" b="1">
                <a:solidFill>
                  <a:srgbClr val="513FD8"/>
                </a:solidFill>
              </a:rPr>
              <a:t>•  </a:t>
            </a:r>
            <a:r>
              <a:rPr sz="2000" b="0">
                <a:solidFill>
                  <a:srgbClr val="1E293B"/>
                </a:solidFill>
              </a:rPr>
              <a:t>Content hangs off a </a:t>
            </a:r>
            <a:r>
              <a:rPr sz="2000" b="1">
                <a:solidFill>
                  <a:srgbClr val="1E293B"/>
                </a:solidFill>
              </a:rPr>
              <a:t>report_version</a:t>
            </a:r>
            <a:r>
              <a:rPr sz="2000" b="0">
                <a:solidFill>
                  <a:srgbClr val="1E293B"/>
                </a:solidFill>
              </a:rPr>
              <a:t>, which is what makes history possible</a:t>
            </a:r>
          </a:p>
        </p:txBody>
      </p:sp>
      <p:sp>
        <p:nvSpPr>
          <p:cNvPr id="6" name="TextBox 5"/>
          <p:cNvSpPr txBox="1"/>
          <p:nvPr/>
        </p:nvSpPr>
        <p:spPr>
          <a:xfrm>
            <a:off x="777240" y="5394960"/>
            <a:ext cx="10637215" cy="548640"/>
          </a:xfrm>
          <a:prstGeom prst="rect">
            <a:avLst/>
          </a:prstGeom>
          <a:noFill/>
        </p:spPr>
        <p:txBody>
          <a:bodyPr wrap="square">
            <a:spAutoFit/>
          </a:bodyPr>
          <a:lstStyle/>
          <a:p>
            <a:pPr>
              <a:defRPr sz="1400" i="1">
                <a:solidFill>
                  <a:srgbClr val="513FD8"/>
                </a:solidFill>
              </a:defRPr>
            </a:pPr>
            <a:r>
              <a:t>Replace this slide's body with docs/diagrams/er-diagram.png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Three schema decisions</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900" b="1">
                <a:solidFill>
                  <a:srgbClr val="513FD8"/>
                </a:solidFill>
              </a:rPr>
              <a:t>•  </a:t>
            </a:r>
            <a:r>
              <a:rPr sz="1900" b="1">
                <a:solidFill>
                  <a:srgbClr val="1E293B"/>
                </a:solidFill>
              </a:rPr>
              <a:t>reports has no current_version_id</a:t>
            </a:r>
            <a:r>
              <a:rPr sz="1900" b="0">
                <a:solidFill>
                  <a:srgbClr val="1E293B"/>
                </a:solidFill>
              </a:rPr>
              <a:t> — the current version is the highest version_number, avoiding a circular foreign key</a:t>
            </a:r>
          </a:p>
          <a:p>
            <a:pPr>
              <a:lnSpc>
                <a:spcPct val="115000"/>
              </a:lnSpc>
              <a:spcAft>
                <a:spcPts val="1400"/>
              </a:spcAft>
            </a:pPr>
            <a:r>
              <a:rPr sz="1900" b="1">
                <a:solidFill>
                  <a:srgbClr val="513FD8"/>
                </a:solidFill>
              </a:rPr>
              <a:t>•  </a:t>
            </a:r>
            <a:r>
              <a:rPr sz="1900" b="1">
                <a:solidFill>
                  <a:srgbClr val="1E293B"/>
                </a:solidFill>
              </a:rPr>
              <a:t>review_comments points at a version, not a report</a:t>
            </a:r>
            <a:r>
              <a:rPr sz="1900" b="0">
                <a:solidFill>
                  <a:srgbClr val="1E293B"/>
                </a:solidFill>
              </a:rPr>
              <a:t> — so “which version was this comment made against” is answerable by the schema</a:t>
            </a:r>
          </a:p>
          <a:p>
            <a:pPr>
              <a:lnSpc>
                <a:spcPct val="115000"/>
              </a:lnSpc>
              <a:spcAft>
                <a:spcPts val="1400"/>
              </a:spcAft>
            </a:pPr>
            <a:r>
              <a:rPr sz="1900" b="1">
                <a:solidFill>
                  <a:srgbClr val="513FD8"/>
                </a:solidFill>
              </a:rPr>
              <a:t>•  </a:t>
            </a:r>
            <a:r>
              <a:rPr sz="1900" b="1">
                <a:solidFill>
                  <a:srgbClr val="1E293B"/>
                </a:solidFill>
              </a:rPr>
              <a:t>(user_id, week_start) is unique</a:t>
            </a:r>
            <a:r>
              <a:rPr sz="1900" b="0">
                <a:solidFill>
                  <a:srgbClr val="1E293B"/>
                </a:solidFill>
              </a:rPr>
              <a:t> — one report per person per week, enforced by the database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The review workflow</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828800"/>
            <a:ext cx="10637215" cy="1883664"/>
          </a:xfrm>
          <a:prstGeom prst="rect">
            <a:avLst/>
          </a:prstGeom>
          <a:solidFill>
            <a:srgbClr val="F1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6032" tIns="146304"/>
          <a:lstStyle/>
          <a:p>
            <a:pPr algn="l">
              <a:defRPr sz="1500">
                <a:solidFill>
                  <a:srgbClr val="242C3D"/>
                </a:solidFill>
                <a:latin typeface="Consolas"/>
              </a:defRPr>
            </a:pPr>
            <a:r>
              <a:t>DRAFT ──submit──▶ SUBMITTED ──approve──▶ APPROVED</a:t>
            </a:r>
          </a:p>
          <a:p>
            <a:pPr algn="l">
              <a:defRPr sz="1500">
                <a:solidFill>
                  <a:srgbClr val="242C3D"/>
                </a:solidFill>
                <a:latin typeface="Consolas"/>
              </a:defRPr>
            </a:pPr>
            <a:r>
              <a:t>                       │</a:t>
            </a:r>
          </a:p>
          <a:p>
            <a:pPr algn="l">
              <a:defRPr sz="1500">
                <a:solidFill>
                  <a:srgbClr val="242C3D"/>
                </a:solidFill>
                <a:latin typeface="Consolas"/>
              </a:defRPr>
            </a:pPr>
            <a:r>
              <a:t>                request changes</a:t>
            </a:r>
          </a:p>
          <a:p>
            <a:pPr algn="l">
              <a:defRPr sz="1500">
                <a:solidFill>
                  <a:srgbClr val="242C3D"/>
                </a:solidFill>
                <a:latin typeface="Consolas"/>
              </a:defRPr>
            </a:pPr>
            <a:r>
              <a:t>                       ▼</a:t>
            </a:r>
          </a:p>
          <a:p>
            <a:pPr algn="l">
              <a:defRPr sz="1500">
                <a:solidFill>
                  <a:srgbClr val="242C3D"/>
                </a:solidFill>
                <a:latin typeface="Consolas"/>
              </a:defRPr>
            </a:pPr>
            <a:r>
              <a:t>              NEEDS_CORRECTION ──edit + resubmit──▶ SUBMITTED</a:t>
            </a:r>
          </a:p>
        </p:txBody>
      </p:sp>
      <p:sp>
        <p:nvSpPr>
          <p:cNvPr id="5" name="TextBox 4"/>
          <p:cNvSpPr txBox="1"/>
          <p:nvPr/>
        </p:nvSpPr>
        <p:spPr>
          <a:xfrm>
            <a:off x="777240" y="3986784"/>
            <a:ext cx="10637215" cy="2322576"/>
          </a:xfrm>
          <a:prstGeom prst="rect">
            <a:avLst/>
          </a:prstGeom>
          <a:noFill/>
        </p:spPr>
        <p:txBody>
          <a:bodyPr wrap="square">
            <a:spAutoFit/>
          </a:bodyPr>
          <a:lstStyle/>
          <a:p>
            <a:pPr>
              <a:lnSpc>
                <a:spcPct val="115000"/>
              </a:lnSpc>
              <a:spcAft>
                <a:spcPts val="1400"/>
              </a:spcAft>
            </a:pPr>
            <a:r>
              <a:rPr sz="1900" b="1">
                <a:solidFill>
                  <a:srgbClr val="513FD8"/>
                </a:solidFill>
              </a:rPr>
              <a:t>•  </a:t>
            </a:r>
            <a:r>
              <a:rPr sz="1900" b="0">
                <a:solidFill>
                  <a:srgbClr val="1E293B"/>
                </a:solidFill>
              </a:rPr>
              <a:t>A draft is </a:t>
            </a:r>
            <a:r>
              <a:rPr sz="1900" b="1">
                <a:solidFill>
                  <a:srgbClr val="1E293B"/>
                </a:solidFill>
              </a:rPr>
              <a:t>private to its author</a:t>
            </a:r>
            <a:r>
              <a:rPr sz="1900" b="0">
                <a:solidFill>
                  <a:srgbClr val="1E293B"/>
                </a:solidFill>
              </a:rPr>
              <a:t> — invisible even to a manager</a:t>
            </a:r>
          </a:p>
          <a:p>
            <a:pPr>
              <a:lnSpc>
                <a:spcPct val="115000"/>
              </a:lnSpc>
              <a:spcAft>
                <a:spcPts val="1400"/>
              </a:spcAft>
            </a:pPr>
            <a:r>
              <a:rPr sz="1900" b="1">
                <a:solidFill>
                  <a:srgbClr val="513FD8"/>
                </a:solidFill>
              </a:rPr>
              <a:t>•  </a:t>
            </a:r>
            <a:r>
              <a:rPr sz="1900" b="0">
                <a:solidFill>
                  <a:srgbClr val="1E293B"/>
                </a:solidFill>
              </a:rPr>
              <a:t>Requesting changes </a:t>
            </a:r>
            <a:r>
              <a:rPr sz="1900" b="1">
                <a:solidFill>
                  <a:srgbClr val="1E293B"/>
                </a:solidFill>
              </a:rPr>
              <a:t>requires</a:t>
            </a:r>
            <a:r>
              <a:rPr sz="1900" b="0">
                <a:solidFill>
                  <a:srgbClr val="1E293B"/>
                </a:solidFill>
              </a:rPr>
              <a:t> a comment; approving does not</a:t>
            </a:r>
          </a:p>
          <a:p>
            <a:pPr>
              <a:lnSpc>
                <a:spcPct val="115000"/>
              </a:lnSpc>
              <a:spcAft>
                <a:spcPts val="1400"/>
              </a:spcAft>
            </a:pPr>
            <a:r>
              <a:rPr sz="1900" b="1">
                <a:solidFill>
                  <a:srgbClr val="513FD8"/>
                </a:solidFill>
              </a:rPr>
              <a:t>•  </a:t>
            </a:r>
            <a:r>
              <a:rPr sz="1900" b="0">
                <a:solidFill>
                  <a:srgbClr val="1E293B"/>
                </a:solidFill>
              </a:rPr>
              <a:t>A manager </a:t>
            </a:r>
            <a:r>
              <a:rPr sz="1900" b="1">
                <a:solidFill>
                  <a:srgbClr val="1E293B"/>
                </a:solidFill>
              </a:rPr>
              <a:t>cannot review their own</a:t>
            </a:r>
            <a:r>
              <a:rPr sz="1900" b="0">
                <a:solidFill>
                  <a:srgbClr val="1E293B"/>
                </a:solidFill>
              </a:rPr>
              <a:t> report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Version history: lazy forking</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2000" b="1">
                <a:solidFill>
                  <a:srgbClr val="513FD8"/>
                </a:solidFill>
              </a:rPr>
              <a:t>•  </a:t>
            </a:r>
            <a:r>
              <a:rPr sz="2000" b="0">
                <a:solidFill>
                  <a:srgbClr val="1E293B"/>
                </a:solidFill>
              </a:rPr>
              <a:t>Submitting </a:t>
            </a:r>
            <a:r>
              <a:rPr sz="2000" b="1">
                <a:solidFill>
                  <a:srgbClr val="1E293B"/>
                </a:solidFill>
              </a:rPr>
              <a:t>freezes</a:t>
            </a:r>
            <a:r>
              <a:rPr sz="2000" b="0">
                <a:solidFill>
                  <a:srgbClr val="1E293B"/>
                </a:solidFill>
              </a:rPr>
              <a:t> the current version</a:t>
            </a:r>
          </a:p>
          <a:p>
            <a:pPr>
              <a:lnSpc>
                <a:spcPct val="115000"/>
              </a:lnSpc>
              <a:spcAft>
                <a:spcPts val="1400"/>
              </a:spcAft>
            </a:pPr>
            <a:r>
              <a:rPr sz="2000" b="1">
                <a:solidFill>
                  <a:srgbClr val="513FD8"/>
                </a:solidFill>
              </a:rPr>
              <a:t>•  </a:t>
            </a:r>
            <a:r>
              <a:rPr sz="2000" b="0">
                <a:solidFill>
                  <a:srgbClr val="1E293B"/>
                </a:solidFill>
              </a:rPr>
              <a:t>The next edit </a:t>
            </a:r>
            <a:r>
              <a:rPr sz="2000" b="1">
                <a:solidFill>
                  <a:srgbClr val="1E293B"/>
                </a:solidFill>
              </a:rPr>
              <a:t>forks a new version</a:t>
            </a:r>
            <a:r>
              <a:rPr sz="2000" b="0">
                <a:solidFill>
                  <a:srgbClr val="1E293B"/>
                </a:solidFill>
              </a:rPr>
              <a:t> — the frozen one is never touched</a:t>
            </a:r>
          </a:p>
          <a:p>
            <a:pPr>
              <a:lnSpc>
                <a:spcPct val="115000"/>
              </a:lnSpc>
              <a:spcAft>
                <a:spcPts val="1400"/>
              </a:spcAft>
            </a:pPr>
            <a:r>
              <a:rPr sz="2000" b="1">
                <a:solidFill>
                  <a:srgbClr val="513FD8"/>
                </a:solidFill>
              </a:rPr>
              <a:t>•  </a:t>
            </a:r>
            <a:r>
              <a:rPr sz="2000" b="0">
                <a:solidFill>
                  <a:srgbClr val="1E293B"/>
                </a:solidFill>
              </a:rPr>
              <a:t>A draft edited ten times stays </a:t>
            </a:r>
            <a:r>
              <a:rPr sz="2000" b="1">
                <a:solidFill>
                  <a:srgbClr val="1E293B"/>
                </a:solidFill>
              </a:rPr>
              <a:t>one</a:t>
            </a:r>
            <a:r>
              <a:rPr sz="2000" b="0">
                <a:solidFill>
                  <a:srgbClr val="1E293B"/>
                </a:solidFill>
              </a:rPr>
              <a:t> version</a:t>
            </a:r>
          </a:p>
          <a:p>
            <a:pPr>
              <a:lnSpc>
                <a:spcPct val="115000"/>
              </a:lnSpc>
              <a:spcAft>
                <a:spcPts val="1400"/>
              </a:spcAft>
            </a:pPr>
            <a:r>
              <a:rPr sz="2000" b="1">
                <a:solidFill>
                  <a:srgbClr val="513FD8"/>
                </a:solidFill>
              </a:rPr>
              <a:t>•  </a:t>
            </a:r>
            <a:r>
              <a:rPr sz="2000" b="0">
                <a:solidFill>
                  <a:srgbClr val="1E293B"/>
                </a:solidFill>
              </a:rPr>
              <a:t>Only </a:t>
            </a:r>
            <a:r>
              <a:rPr sz="2000" b="1">
                <a:solidFill>
                  <a:srgbClr val="1E293B"/>
                </a:solidFill>
              </a:rPr>
              <a:t>submitted</a:t>
            </a:r>
            <a:r>
              <a:rPr sz="2000" b="0">
                <a:solidFill>
                  <a:srgbClr val="1E293B"/>
                </a:solidFill>
              </a:rPr>
              <a:t> versions appear in history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API design</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89888"/>
            <a:ext cx="10637215" cy="411480"/>
          </a:xfrm>
          <a:prstGeom prst="rect">
            <a:avLst/>
          </a:prstGeom>
          <a:noFill/>
        </p:spPr>
        <p:txBody>
          <a:bodyPr wrap="square">
            <a:spAutoFit/>
          </a:bodyPr>
          <a:lstStyle/>
          <a:p>
            <a:pPr>
              <a:defRPr sz="1500" i="1">
                <a:solidFill>
                  <a:srgbClr val="5B6B84"/>
                </a:solidFill>
              </a:defRPr>
            </a:pPr>
            <a:r>
              <a:t>33 endpoints · one error shape · status codes that mean something</a:t>
            </a:r>
          </a:p>
        </p:txBody>
      </p:sp>
      <p:graphicFrame>
        <p:nvGraphicFramePr>
          <p:cNvPr id="5" name="Table 4"/>
          <p:cNvGraphicFramePr>
            <a:graphicFrameLocks noGrp="1"/>
          </p:cNvGraphicFramePr>
          <p:nvPr/>
        </p:nvGraphicFramePr>
        <p:xfrm>
          <a:off x="777240" y="2103120"/>
          <a:ext cx="10637213" cy="2688336"/>
        </p:xfrm>
        <a:graphic>
          <a:graphicData uri="http://schemas.openxmlformats.org/drawingml/2006/table">
            <a:tbl>
              <a:tblPr firstRow="1" bandRow="1">
                <a:tableStyleId>{5C22544A-7EE6-4342-B048-85BDC9FD1C3A}</a:tableStyleId>
              </a:tblPr>
              <a:tblGrid>
                <a:gridCol w="1063721"/>
                <a:gridCol w="4893118"/>
                <a:gridCol w="4680374"/>
              </a:tblGrid>
              <a:tr h="384048">
                <a:tc>
                  <a:txBody>
                    <a:bodyPr/>
                    <a:lstStyle/>
                    <a:p>
                      <a:pPr>
                        <a:defRPr sz="1400" b="1">
                          <a:solidFill>
                            <a:srgbClr val="FFFFFF"/>
                          </a:solidFill>
                        </a:defRPr>
                      </a:pPr>
                      <a:r>
                        <a:t>Code</a:t>
                      </a:r>
                    </a:p>
                  </a:txBody>
                  <a:tcPr marL="128016"/>
                </a:tc>
                <a:tc>
                  <a:txBody>
                    <a:bodyPr/>
                    <a:lstStyle/>
                    <a:p>
                      <a:pPr>
                        <a:defRPr sz="1400" b="1">
                          <a:solidFill>
                            <a:srgbClr val="FFFFFF"/>
                          </a:solidFill>
                        </a:defRPr>
                      </a:pPr>
                      <a:r>
                        <a:t>When</a:t>
                      </a:r>
                    </a:p>
                  </a:txBody>
                  <a:tcPr marL="128016"/>
                </a:tc>
                <a:tc>
                  <a:txBody>
                    <a:bodyPr/>
                    <a:lstStyle/>
                    <a:p>
                      <a:pPr>
                        <a:defRPr sz="1400" b="1">
                          <a:solidFill>
                            <a:srgbClr val="FFFFFF"/>
                          </a:solidFill>
                        </a:defRPr>
                      </a:pPr>
                      <a:r>
                        <a:t>Example</a:t>
                      </a:r>
                    </a:p>
                  </a:txBody>
                  <a:tcPr marL="128016"/>
                </a:tc>
              </a:tr>
              <a:tr h="384048">
                <a:tc>
                  <a:txBody>
                    <a:bodyPr/>
                    <a:lstStyle/>
                    <a:p>
                      <a:pPr>
                        <a:defRPr sz="1400" b="0">
                          <a:solidFill>
                            <a:srgbClr val="1E293B"/>
                          </a:solidFill>
                        </a:defRPr>
                      </a:pPr>
                      <a:r>
                        <a:t>400</a:t>
                      </a:r>
                    </a:p>
                  </a:txBody>
                  <a:tcPr marL="128016"/>
                </a:tc>
                <a:tc>
                  <a:txBody>
                    <a:bodyPr/>
                    <a:lstStyle/>
                    <a:p>
                      <a:pPr>
                        <a:defRPr sz="1400" b="0">
                          <a:solidFill>
                            <a:srgbClr val="1E293B"/>
                          </a:solidFill>
                        </a:defRPr>
                      </a:pPr>
                      <a:r>
                        <a:t>Validation, bad param, unknown JSON property</a:t>
                      </a:r>
                    </a:p>
                  </a:txBody>
                  <a:tcPr marL="128016"/>
                </a:tc>
                <a:tc>
                  <a:txBody>
                    <a:bodyPr/>
                    <a:lstStyle/>
                    <a:p>
                      <a:pPr>
                        <a:defRPr sz="1400" b="0">
                          <a:solidFill>
                            <a:srgbClr val="1E293B"/>
                          </a:solidFill>
                        </a:defRPr>
                      </a:pPr>
                      <a:r>
                        <a:t>planned_percent = 150</a:t>
                      </a:r>
                    </a:p>
                  </a:txBody>
                  <a:tcPr marL="128016"/>
                </a:tc>
              </a:tr>
              <a:tr h="384048">
                <a:tc>
                  <a:txBody>
                    <a:bodyPr/>
                    <a:lstStyle/>
                    <a:p>
                      <a:pPr>
                        <a:defRPr sz="1400" b="0">
                          <a:solidFill>
                            <a:srgbClr val="1E293B"/>
                          </a:solidFill>
                        </a:defRPr>
                      </a:pPr>
                      <a:r>
                        <a:t>401</a:t>
                      </a:r>
                    </a:p>
                  </a:txBody>
                  <a:tcPr marL="128016"/>
                </a:tc>
                <a:tc>
                  <a:txBody>
                    <a:bodyPr/>
                    <a:lstStyle/>
                    <a:p>
                      <a:pPr>
                        <a:defRPr sz="1400" b="0">
                          <a:solidFill>
                            <a:srgbClr val="1E293B"/>
                          </a:solidFill>
                        </a:defRPr>
                      </a:pPr>
                      <a:r>
                        <a:t>No or invalid token, or access revoked</a:t>
                      </a:r>
                    </a:p>
                  </a:txBody>
                  <a:tcPr marL="128016"/>
                </a:tc>
                <a:tc>
                  <a:txBody>
                    <a:bodyPr/>
                    <a:lstStyle/>
                    <a:p>
                      <a:pPr>
                        <a:defRPr sz="1400" b="0">
                          <a:solidFill>
                            <a:srgbClr val="1E293B"/>
                          </a:solidFill>
                        </a:defRPr>
                      </a:pPr>
                      <a:r>
                        <a:t>expired JWT</a:t>
                      </a:r>
                    </a:p>
                  </a:txBody>
                  <a:tcPr marL="128016"/>
                </a:tc>
              </a:tr>
              <a:tr h="384048">
                <a:tc>
                  <a:txBody>
                    <a:bodyPr/>
                    <a:lstStyle/>
                    <a:p>
                      <a:pPr>
                        <a:defRPr sz="1400" b="0">
                          <a:solidFill>
                            <a:srgbClr val="1E293B"/>
                          </a:solidFill>
                        </a:defRPr>
                      </a:pPr>
                      <a:r>
                        <a:t>403</a:t>
                      </a:r>
                    </a:p>
                  </a:txBody>
                  <a:tcPr marL="128016"/>
                </a:tc>
                <a:tc>
                  <a:txBody>
                    <a:bodyPr/>
                    <a:lstStyle/>
                    <a:p>
                      <a:pPr>
                        <a:defRPr sz="1400" b="0">
                          <a:solidFill>
                            <a:srgbClr val="1E293B"/>
                          </a:solidFill>
                        </a:defRPr>
                      </a:pPr>
                      <a:r>
                        <a:t>Authenticated, wrong role</a:t>
                      </a:r>
                    </a:p>
                  </a:txBody>
                  <a:tcPr marL="128016"/>
                </a:tc>
                <a:tc>
                  <a:txBody>
                    <a:bodyPr/>
                    <a:lstStyle/>
                    <a:p>
                      <a:pPr>
                        <a:defRPr sz="1400" b="0">
                          <a:solidFill>
                            <a:srgbClr val="1E293B"/>
                          </a:solidFill>
                        </a:defRPr>
                      </a:pPr>
                      <a:r>
                        <a:t>member calls /api/users</a:t>
                      </a:r>
                    </a:p>
                  </a:txBody>
                  <a:tcPr marL="128016"/>
                </a:tc>
              </a:tr>
              <a:tr h="384048">
                <a:tc>
                  <a:txBody>
                    <a:bodyPr/>
                    <a:lstStyle/>
                    <a:p>
                      <a:pPr>
                        <a:defRPr sz="1400" b="0">
                          <a:solidFill>
                            <a:srgbClr val="1E293B"/>
                          </a:solidFill>
                        </a:defRPr>
                      </a:pPr>
                      <a:r>
                        <a:t>404</a:t>
                      </a:r>
                    </a:p>
                  </a:txBody>
                  <a:tcPr marL="128016"/>
                </a:tc>
                <a:tc>
                  <a:txBody>
                    <a:bodyPr/>
                    <a:lstStyle/>
                    <a:p>
                      <a:pPr>
                        <a:defRPr sz="1400" b="0">
                          <a:solidFill>
                            <a:srgbClr val="1E293B"/>
                          </a:solidFill>
                        </a:defRPr>
                      </a:pPr>
                      <a:r>
                        <a:t>Missing — or a peer's report, deliberately</a:t>
                      </a:r>
                    </a:p>
                  </a:txBody>
                  <a:tcPr marL="128016"/>
                </a:tc>
                <a:tc>
                  <a:txBody>
                    <a:bodyPr/>
                    <a:lstStyle/>
                    <a:p>
                      <a:pPr>
                        <a:defRPr sz="1400" b="0">
                          <a:solidFill>
                            <a:srgbClr val="1E293B"/>
                          </a:solidFill>
                        </a:defRPr>
                      </a:pPr>
                      <a:r>
                        <a:t>another member's report</a:t>
                      </a:r>
                    </a:p>
                  </a:txBody>
                  <a:tcPr marL="128016"/>
                </a:tc>
              </a:tr>
              <a:tr h="384048">
                <a:tc>
                  <a:txBody>
                    <a:bodyPr/>
                    <a:lstStyle/>
                    <a:p>
                      <a:pPr>
                        <a:defRPr sz="1400" b="0">
                          <a:solidFill>
                            <a:srgbClr val="1E293B"/>
                          </a:solidFill>
                        </a:defRPr>
                      </a:pPr>
                      <a:r>
                        <a:t>405</a:t>
                      </a:r>
                    </a:p>
                  </a:txBody>
                  <a:tcPr marL="128016"/>
                </a:tc>
                <a:tc>
                  <a:txBody>
                    <a:bodyPr/>
                    <a:lstStyle/>
                    <a:p>
                      <a:pPr>
                        <a:defRPr sz="1400" b="0">
                          <a:solidFill>
                            <a:srgbClr val="1E293B"/>
                          </a:solidFill>
                        </a:defRPr>
                      </a:pPr>
                      <a:r>
                        <a:t>Right path, wrong method</a:t>
                      </a:r>
                    </a:p>
                  </a:txBody>
                  <a:tcPr marL="128016"/>
                </a:tc>
                <a:tc>
                  <a:txBody>
                    <a:bodyPr/>
                    <a:lstStyle/>
                    <a:p>
                      <a:pPr>
                        <a:defRPr sz="1400" b="0">
                          <a:solidFill>
                            <a:srgbClr val="1E293B"/>
                          </a:solidFill>
                        </a:defRPr>
                      </a:pPr>
                      <a:r>
                        <a:t>DELETE on a GET-only path</a:t>
                      </a:r>
                    </a:p>
                  </a:txBody>
                  <a:tcPr marL="128016"/>
                </a:tc>
              </a:tr>
              <a:tr h="384048">
                <a:tc>
                  <a:txBody>
                    <a:bodyPr/>
                    <a:lstStyle/>
                    <a:p>
                      <a:pPr>
                        <a:defRPr sz="1400" b="0">
                          <a:solidFill>
                            <a:srgbClr val="1E293B"/>
                          </a:solidFill>
                        </a:defRPr>
                      </a:pPr>
                      <a:r>
                        <a:t>409</a:t>
                      </a:r>
                    </a:p>
                  </a:txBody>
                  <a:tcPr marL="128016"/>
                </a:tc>
                <a:tc>
                  <a:txBody>
                    <a:bodyPr/>
                    <a:lstStyle/>
                    <a:p>
                      <a:pPr>
                        <a:defRPr sz="1400" b="0">
                          <a:solidFill>
                            <a:srgbClr val="1E293B"/>
                          </a:solidFill>
                        </a:defRPr>
                      </a:pPr>
                      <a:r>
                        <a:t>Conflict with existing state</a:t>
                      </a:r>
                    </a:p>
                  </a:txBody>
                  <a:tcPr marL="128016"/>
                </a:tc>
                <a:tc>
                  <a:txBody>
                    <a:bodyPr/>
                    <a:lstStyle/>
                    <a:p>
                      <a:pPr>
                        <a:defRPr sz="1400" b="0">
                          <a:solidFill>
                            <a:srgbClr val="1E293B"/>
                          </a:solidFill>
                        </a:defRPr>
                      </a:pPr>
                      <a:r>
                        <a:t>second report for one week</a:t>
                      </a:r>
                    </a:p>
                  </a:txBody>
                  <a:tcPr marL="128016"/>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Access control: two layers</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900" b="1">
                <a:solidFill>
                  <a:srgbClr val="513FD8"/>
                </a:solidFill>
              </a:rPr>
              <a:t>•  </a:t>
            </a:r>
            <a:r>
              <a:rPr sz="1900" b="1">
                <a:solidFill>
                  <a:srgbClr val="1E293B"/>
                </a:solidFill>
              </a:rPr>
              <a:t>Role</a:t>
            </a:r>
            <a:r>
              <a:rPr sz="1900" b="0">
                <a:solidFill>
                  <a:srgbClr val="1E293B"/>
                </a:solidFill>
              </a:rPr>
              <a:t> at the controller — @PreAuthorize("hasRole('MANAGER')")</a:t>
            </a:r>
          </a:p>
          <a:p>
            <a:pPr>
              <a:lnSpc>
                <a:spcPct val="115000"/>
              </a:lnSpc>
              <a:spcAft>
                <a:spcPts val="1400"/>
              </a:spcAft>
            </a:pPr>
            <a:r>
              <a:rPr sz="1900" b="1">
                <a:solidFill>
                  <a:srgbClr val="513FD8"/>
                </a:solidFill>
              </a:rPr>
              <a:t>•  </a:t>
            </a:r>
            <a:r>
              <a:rPr sz="1900" b="1">
                <a:solidFill>
                  <a:srgbClr val="1E293B"/>
                </a:solidFill>
              </a:rPr>
              <a:t>Ownership</a:t>
            </a:r>
            <a:r>
              <a:rPr sz="1900" b="0">
                <a:solidFill>
                  <a:srgbClr val="1E293B"/>
                </a:solidFill>
              </a:rPr>
              <a:t> in a service guard — ReportAccessGuard, on every mutating path</a:t>
            </a:r>
          </a:p>
          <a:p>
            <a:pPr>
              <a:lnSpc>
                <a:spcPct val="115000"/>
              </a:lnSpc>
              <a:spcAft>
                <a:spcPts val="1400"/>
              </a:spcAft>
            </a:pPr>
            <a:r>
              <a:rPr sz="1900" b="1">
                <a:solidFill>
                  <a:srgbClr val="513FD8"/>
                </a:solidFill>
              </a:rPr>
              <a:t>•  </a:t>
            </a:r>
            <a:r>
              <a:rPr sz="1900" b="1">
                <a:solidFill>
                  <a:srgbClr val="1E293B"/>
                </a:solidFill>
              </a:rPr>
              <a:t>A peer's report is 404, not 403</a:t>
            </a:r>
            <a:r>
              <a:rPr sz="1900" b="0">
                <a:solidFill>
                  <a:srgbClr val="1E293B"/>
                </a:solidFill>
              </a:rPr>
              <a:t> — a “forbidden” would confirm the id exists</a:t>
            </a:r>
          </a:p>
          <a:p>
            <a:pPr>
              <a:lnSpc>
                <a:spcPct val="115000"/>
              </a:lnSpc>
              <a:spcAft>
                <a:spcPts val="1400"/>
              </a:spcAft>
            </a:pPr>
            <a:r>
              <a:rPr sz="1900" b="1">
                <a:solidFill>
                  <a:srgbClr val="513FD8"/>
                </a:solidFill>
              </a:rPr>
              <a:t>•  </a:t>
            </a:r>
            <a:r>
              <a:rPr sz="1900" b="1">
                <a:solidFill>
                  <a:srgbClr val="1E293B"/>
                </a:solidFill>
              </a:rPr>
              <a:t>Ownership is checked before status</a:t>
            </a:r>
            <a:r>
              <a:rPr sz="1900" b="0">
                <a:solidFill>
                  <a:srgbClr val="1E293B"/>
                </a:solidFill>
              </a:rPr>
              <a:t>, so the status check isn't an existence oracle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Access control, proven</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89888"/>
            <a:ext cx="10637215" cy="411480"/>
          </a:xfrm>
          <a:prstGeom prst="rect">
            <a:avLst/>
          </a:prstGeom>
          <a:noFill/>
        </p:spPr>
        <p:txBody>
          <a:bodyPr wrap="square">
            <a:spAutoFit/>
          </a:bodyPr>
          <a:lstStyle/>
          <a:p>
            <a:pPr>
              <a:defRPr sz="1500" i="1">
                <a:solidFill>
                  <a:srgbClr val="5B6B84"/>
                </a:solidFill>
              </a:defRPr>
            </a:pPr>
            <a:r>
              <a:t>21 integration tests through the real filter chain</a:t>
            </a:r>
          </a:p>
        </p:txBody>
      </p:sp>
      <p:sp>
        <p:nvSpPr>
          <p:cNvPr id="5" name="TextBox 4"/>
          <p:cNvSpPr txBox="1"/>
          <p:nvPr/>
        </p:nvSpPr>
        <p:spPr>
          <a:xfrm>
            <a:off x="777240" y="2057400"/>
            <a:ext cx="10637215" cy="4251960"/>
          </a:xfrm>
          <a:prstGeom prst="rect">
            <a:avLst/>
          </a:prstGeom>
          <a:noFill/>
        </p:spPr>
        <p:txBody>
          <a:bodyPr wrap="square">
            <a:spAutoFit/>
          </a:bodyPr>
          <a:lstStyle/>
          <a:p>
            <a:pPr>
              <a:lnSpc>
                <a:spcPct val="115000"/>
              </a:lnSpc>
              <a:spcAft>
                <a:spcPts val="1400"/>
              </a:spcAft>
            </a:pPr>
            <a:r>
              <a:rPr sz="2000" b="1">
                <a:solidFill>
                  <a:srgbClr val="513FD8"/>
                </a:solidFill>
              </a:rPr>
              <a:t>•  </a:t>
            </a:r>
            <a:r>
              <a:rPr sz="2000" b="1">
                <a:solidFill>
                  <a:srgbClr val="1E293B"/>
                </a:solidFill>
              </a:rPr>
              <a:t>Real JWTs from /api/auth/login</a:t>
            </a:r>
            <a:r>
              <a:rPr sz="2000" b="0">
                <a:solidFill>
                  <a:srgbClr val="1E293B"/>
                </a:solidFill>
              </a:rPr>
              <a:t> — not @WithMockUser</a:t>
            </a:r>
          </a:p>
          <a:p>
            <a:pPr>
              <a:lnSpc>
                <a:spcPct val="115000"/>
              </a:lnSpc>
              <a:spcAft>
                <a:spcPts val="1400"/>
              </a:spcAft>
            </a:pPr>
            <a:r>
              <a:rPr sz="2000" b="1">
                <a:solidFill>
                  <a:srgbClr val="513FD8"/>
                </a:solidFill>
              </a:rPr>
              <a:t>•  </a:t>
            </a:r>
            <a:r>
              <a:rPr sz="2000" b="0">
                <a:solidFill>
                  <a:srgbClr val="1E293B"/>
                </a:solidFill>
              </a:rPr>
              <a:t>The JWT filter builds its own Authentication, so a mocked principal would skip the very code the tests exist to cover</a:t>
            </a:r>
          </a:p>
          <a:p>
            <a:pPr>
              <a:lnSpc>
                <a:spcPct val="115000"/>
              </a:lnSpc>
              <a:spcAft>
                <a:spcPts val="1400"/>
              </a:spcAft>
            </a:pPr>
            <a:r>
              <a:rPr sz="2000" b="1">
                <a:solidFill>
                  <a:srgbClr val="513FD8"/>
                </a:solidFill>
              </a:rPr>
              <a:t>•  </a:t>
            </a:r>
            <a:r>
              <a:rPr sz="2000" b="0">
                <a:solidFill>
                  <a:srgbClr val="1E293B"/>
                </a:solidFill>
              </a:rPr>
              <a:t>Pins behaviour that is easy to “fix” into a vulnerability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Session revocation</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900" b="1">
                <a:solidFill>
                  <a:srgbClr val="513FD8"/>
                </a:solidFill>
              </a:rPr>
              <a:t>•  </a:t>
            </a:r>
            <a:r>
              <a:rPr sz="1900" b="1">
                <a:solidFill>
                  <a:srgbClr val="1E293B"/>
                </a:solidFill>
              </a:rPr>
              <a:t>A JWT cannot be revoked</a:t>
            </a:r>
            <a:r>
              <a:rPr sz="1900" b="0">
                <a:solidFill>
                  <a:srgbClr val="1E293B"/>
                </a:solidFill>
              </a:rPr>
              <a:t> once signed — it is valid until it expires</a:t>
            </a:r>
          </a:p>
          <a:p>
            <a:pPr>
              <a:lnSpc>
                <a:spcPct val="115000"/>
              </a:lnSpc>
              <a:spcAft>
                <a:spcPts val="1400"/>
              </a:spcAft>
            </a:pPr>
            <a:r>
              <a:rPr sz="1900" b="1">
                <a:solidFill>
                  <a:srgbClr val="513FD8"/>
                </a:solidFill>
              </a:rPr>
              <a:t>•  </a:t>
            </a:r>
            <a:r>
              <a:rPr sz="1900" b="1">
                <a:solidFill>
                  <a:srgbClr val="1E293B"/>
                </a:solidFill>
              </a:rPr>
              <a:t>So every token carries a token_version claim</a:t>
            </a:r>
            <a:r>
              <a:rPr sz="1900" b="0">
                <a:solidFill>
                  <a:srgbClr val="1E293B"/>
                </a:solidFill>
              </a:rPr>
              <a:t>, compared against the user row on every request</a:t>
            </a:r>
          </a:p>
          <a:p>
            <a:pPr>
              <a:lnSpc>
                <a:spcPct val="115000"/>
              </a:lnSpc>
              <a:spcAft>
                <a:spcPts val="1400"/>
              </a:spcAft>
            </a:pPr>
            <a:r>
              <a:rPr sz="1900" b="1">
                <a:solidFill>
                  <a:srgbClr val="513FD8"/>
                </a:solidFill>
              </a:rPr>
              <a:t>•  </a:t>
            </a:r>
            <a:r>
              <a:rPr sz="1900" b="0">
                <a:solidFill>
                  <a:srgbClr val="1E293B"/>
                </a:solidFill>
              </a:rPr>
              <a:t>Changing a role, disabling an account or changing a password bumps it</a:t>
            </a:r>
          </a:p>
          <a:p>
            <a:pPr>
              <a:lnSpc>
                <a:spcPct val="115000"/>
              </a:lnSpc>
              <a:spcAft>
                <a:spcPts val="1400"/>
              </a:spcAft>
            </a:pPr>
            <a:r>
              <a:rPr sz="1900" b="1">
                <a:solidFill>
                  <a:srgbClr val="513FD8"/>
                </a:solidFill>
              </a:rPr>
              <a:t>•  </a:t>
            </a:r>
            <a:r>
              <a:rPr sz="1900" b="1">
                <a:solidFill>
                  <a:srgbClr val="1E293B"/>
                </a:solidFill>
              </a:rPr>
              <a:t>The 401 body says why</a:t>
            </a:r>
            <a:r>
              <a:rPr sz="1900" b="0">
                <a:solidFill>
                  <a:srgbClr val="1E293B"/>
                </a:solidFill>
              </a:rPr>
              <a:t>, so the sign-in screen can explain the sign-out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Frontend structure</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89888"/>
            <a:ext cx="10637215" cy="411480"/>
          </a:xfrm>
          <a:prstGeom prst="rect">
            <a:avLst/>
          </a:prstGeom>
          <a:noFill/>
        </p:spPr>
        <p:txBody>
          <a:bodyPr wrap="square">
            <a:spAutoFit/>
          </a:bodyPr>
          <a:lstStyle/>
          <a:p>
            <a:pPr>
              <a:defRPr sz="1500" i="1">
                <a:solidFill>
                  <a:srgbClr val="5B6B84"/>
                </a:solidFill>
              </a:defRPr>
            </a:pPr>
            <a:r>
              <a:t>12 route pages · 14 shared components · 69 TypeScript files</a:t>
            </a:r>
          </a:p>
        </p:txBody>
      </p:sp>
      <p:sp>
        <p:nvSpPr>
          <p:cNvPr id="5" name="TextBox 4"/>
          <p:cNvSpPr txBox="1"/>
          <p:nvPr/>
        </p:nvSpPr>
        <p:spPr>
          <a:xfrm>
            <a:off x="777240" y="2057400"/>
            <a:ext cx="10637215" cy="4251960"/>
          </a:xfrm>
          <a:prstGeom prst="rect">
            <a:avLst/>
          </a:prstGeom>
          <a:noFill/>
        </p:spPr>
        <p:txBody>
          <a:bodyPr wrap="square">
            <a:spAutoFit/>
          </a:bodyPr>
          <a:lstStyle/>
          <a:p>
            <a:pPr>
              <a:lnSpc>
                <a:spcPct val="115000"/>
              </a:lnSpc>
              <a:spcAft>
                <a:spcPts val="1400"/>
              </a:spcAft>
            </a:pPr>
            <a:r>
              <a:rPr sz="2000" b="1">
                <a:solidFill>
                  <a:srgbClr val="513FD8"/>
                </a:solidFill>
              </a:rPr>
              <a:t>•  </a:t>
            </a:r>
            <a:r>
              <a:rPr sz="2000" b="1">
                <a:solidFill>
                  <a:srgbClr val="1E293B"/>
                </a:solidFill>
              </a:rPr>
              <a:t>api/</a:t>
            </a:r>
            <a:r>
              <a:rPr sz="2000" b="0">
                <a:solidFill>
                  <a:srgbClr val="1E293B"/>
                </a:solidFill>
              </a:rPr>
              <a:t> — one module per backend area; client.ts is the only place fetch happens</a:t>
            </a:r>
          </a:p>
          <a:p>
            <a:pPr>
              <a:lnSpc>
                <a:spcPct val="115000"/>
              </a:lnSpc>
              <a:spcAft>
                <a:spcPts val="1400"/>
              </a:spcAft>
            </a:pPr>
            <a:r>
              <a:rPr sz="2000" b="1">
                <a:solidFill>
                  <a:srgbClr val="513FD8"/>
                </a:solidFill>
              </a:rPr>
              <a:t>•  </a:t>
            </a:r>
            <a:r>
              <a:rPr sz="2000" b="1">
                <a:solidFill>
                  <a:srgbClr val="1E293B"/>
                </a:solidFill>
              </a:rPr>
              <a:t>features/</a:t>
            </a:r>
            <a:r>
              <a:rPr sz="2000" b="0">
                <a:solidFill>
                  <a:srgbClr val="1E293B"/>
                </a:solidFill>
              </a:rPr>
              <a:t> — domain modules: reports, dashboard, assistant, profile</a:t>
            </a:r>
          </a:p>
          <a:p>
            <a:pPr>
              <a:lnSpc>
                <a:spcPct val="115000"/>
              </a:lnSpc>
              <a:spcAft>
                <a:spcPts val="1400"/>
              </a:spcAft>
            </a:pPr>
            <a:r>
              <a:rPr sz="2000" b="1">
                <a:solidFill>
                  <a:srgbClr val="513FD8"/>
                </a:solidFill>
              </a:rPr>
              <a:t>•  </a:t>
            </a:r>
            <a:r>
              <a:rPr sz="2000" b="1">
                <a:solidFill>
                  <a:srgbClr val="1E293B"/>
                </a:solidFill>
              </a:rPr>
              <a:t>components/</a:t>
            </a:r>
            <a:r>
              <a:rPr sz="2000" b="0">
                <a:solidFill>
                  <a:srgbClr val="1E293B"/>
                </a:solidFill>
              </a:rPr>
              <a:t> — TextField, SelectField, WeekField, ConfirmDialog, RowButton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Three frontend decisions</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900" b="1">
                <a:solidFill>
                  <a:srgbClr val="513FD8"/>
                </a:solidFill>
              </a:rPr>
              <a:t>•  </a:t>
            </a:r>
            <a:r>
              <a:rPr sz="1900" b="1">
                <a:solidFill>
                  <a:srgbClr val="1E293B"/>
                </a:solidFill>
              </a:rPr>
              <a:t>Charts hand-built</a:t>
            </a:r>
            <a:r>
              <a:rPr sz="1900" b="0">
                <a:solidFill>
                  <a:srgbClr val="1E293B"/>
                </a:solidFill>
              </a:rPr>
              <a:t> — three CSS components; no library for four simple charts</a:t>
            </a:r>
          </a:p>
          <a:p>
            <a:pPr>
              <a:lnSpc>
                <a:spcPct val="115000"/>
              </a:lnSpc>
              <a:spcAft>
                <a:spcPts val="1400"/>
              </a:spcAft>
            </a:pPr>
            <a:r>
              <a:rPr sz="1900" b="1">
                <a:solidFill>
                  <a:srgbClr val="513FD8"/>
                </a:solidFill>
              </a:rPr>
              <a:t>•  </a:t>
            </a:r>
            <a:r>
              <a:rPr sz="1900" b="1">
                <a:solidFill>
                  <a:srgbClr val="1E293B"/>
                </a:solidFill>
              </a:rPr>
              <a:t>Dashboard filters live in the URL</a:t>
            </a:r>
            <a:r>
              <a:rPr sz="1900" b="0">
                <a:solidFill>
                  <a:srgbClr val="1E293B"/>
                </a:solidFill>
              </a:rPr>
              <a:t> — a filtered view is shareable and Back works</a:t>
            </a:r>
          </a:p>
          <a:p>
            <a:pPr>
              <a:lnSpc>
                <a:spcPct val="115000"/>
              </a:lnSpc>
              <a:spcAft>
                <a:spcPts val="1400"/>
              </a:spcAft>
            </a:pPr>
            <a:r>
              <a:rPr sz="1900" b="1">
                <a:solidFill>
                  <a:srgbClr val="513FD8"/>
                </a:solidFill>
              </a:rPr>
              <a:t>•  </a:t>
            </a:r>
            <a:r>
              <a:rPr sz="1900" b="1">
                <a:solidFill>
                  <a:srgbClr val="1E293B"/>
                </a:solidFill>
              </a:rPr>
              <a:t>WeekField replaced &lt;input type="date"&gt;</a:t>
            </a:r>
            <a:r>
              <a:rPr sz="1900" b="0">
                <a:solidFill>
                  <a:srgbClr val="1E293B"/>
                </a:solidFill>
              </a:rPr>
              <a:t> — Chrome's picker is painted outside the document, so no stylesheet can reach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“What the backend refuses, the UI doesn't offer”</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900" b="1">
                <a:solidFill>
                  <a:srgbClr val="513FD8"/>
                </a:solidFill>
              </a:rPr>
              <a:t>•  </a:t>
            </a:r>
            <a:r>
              <a:rPr sz="1900" b="0">
                <a:solidFill>
                  <a:srgbClr val="1E293B"/>
                </a:solidFill>
              </a:rPr>
              <a:t>Delete appears only when a report count is zero</a:t>
            </a:r>
          </a:p>
          <a:p>
            <a:pPr>
              <a:lnSpc>
                <a:spcPct val="115000"/>
              </a:lnSpc>
              <a:spcAft>
                <a:spcPts val="1400"/>
              </a:spcAft>
            </a:pPr>
            <a:r>
              <a:rPr sz="1900" b="1">
                <a:solidFill>
                  <a:srgbClr val="513FD8"/>
                </a:solidFill>
              </a:rPr>
              <a:t>•  </a:t>
            </a:r>
            <a:r>
              <a:rPr sz="1900" b="0">
                <a:solidFill>
                  <a:srgbClr val="1E293B"/>
                </a:solidFill>
              </a:rPr>
              <a:t>A manager's own row has no role select or disable button</a:t>
            </a:r>
          </a:p>
          <a:p>
            <a:pPr>
              <a:lnSpc>
                <a:spcPct val="115000"/>
              </a:lnSpc>
              <a:spcAft>
                <a:spcPts val="1400"/>
              </a:spcAft>
            </a:pPr>
            <a:r>
              <a:rPr sz="1900" b="1">
                <a:solidFill>
                  <a:srgbClr val="513FD8"/>
                </a:solidFill>
              </a:rPr>
              <a:t>•  </a:t>
            </a:r>
            <a:r>
              <a:rPr sz="1900" b="1">
                <a:solidFill>
                  <a:srgbClr val="1E293B"/>
                </a:solidFill>
              </a:rPr>
              <a:t>A peer's draft shows “Private until submitted”</a:t>
            </a:r>
            <a:r>
              <a:rPr sz="1900" b="0">
                <a:solidFill>
                  <a:srgbClr val="1E293B"/>
                </a:solidFill>
              </a:rPr>
              <a:t> — deliberately not a link</a:t>
            </a:r>
          </a:p>
          <a:p>
            <a:pPr>
              <a:lnSpc>
                <a:spcPct val="115000"/>
              </a:lnSpc>
              <a:spcAft>
                <a:spcPts val="1400"/>
              </a:spcAft>
            </a:pPr>
            <a:r>
              <a:rPr sz="1900" b="1">
                <a:solidFill>
                  <a:srgbClr val="513FD8"/>
                </a:solidFill>
              </a:rPr>
              <a:t>•  </a:t>
            </a:r>
            <a:r>
              <a:rPr sz="1900" b="0">
                <a:solidFill>
                  <a:srgbClr val="1E293B"/>
                </a:solidFill>
              </a:rPr>
              <a:t>Rules that can't be decided from the data on screen surface the backend's message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AI chat assistant</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89888"/>
            <a:ext cx="10637215" cy="411480"/>
          </a:xfrm>
          <a:prstGeom prst="rect">
            <a:avLst/>
          </a:prstGeom>
          <a:noFill/>
        </p:spPr>
        <p:txBody>
          <a:bodyPr wrap="square">
            <a:spAutoFit/>
          </a:bodyPr>
          <a:lstStyle/>
          <a:p>
            <a:pPr>
              <a:defRPr sz="1500" i="1">
                <a:solidFill>
                  <a:srgbClr val="5B6B84"/>
                </a:solidFill>
              </a:defRPr>
            </a:pPr>
            <a:r>
              <a:t>Bonus feature · manager-only</a:t>
            </a:r>
          </a:p>
        </p:txBody>
      </p:sp>
      <p:sp>
        <p:nvSpPr>
          <p:cNvPr id="5" name="TextBox 4"/>
          <p:cNvSpPr txBox="1"/>
          <p:nvPr/>
        </p:nvSpPr>
        <p:spPr>
          <a:xfrm>
            <a:off x="777240" y="2057400"/>
            <a:ext cx="10637215" cy="4251960"/>
          </a:xfrm>
          <a:prstGeom prst="rect">
            <a:avLst/>
          </a:prstGeom>
          <a:noFill/>
        </p:spPr>
        <p:txBody>
          <a:bodyPr wrap="square">
            <a:spAutoFit/>
          </a:bodyPr>
          <a:lstStyle/>
          <a:p>
            <a:pPr>
              <a:lnSpc>
                <a:spcPct val="115000"/>
              </a:lnSpc>
              <a:spcAft>
                <a:spcPts val="1400"/>
              </a:spcAft>
            </a:pPr>
            <a:r>
              <a:rPr sz="1900" b="1">
                <a:solidFill>
                  <a:srgbClr val="513FD8"/>
                </a:solidFill>
              </a:rPr>
              <a:t>•  </a:t>
            </a:r>
            <a:r>
              <a:rPr sz="1900" b="0">
                <a:solidFill>
                  <a:srgbClr val="1E293B"/>
                </a:solidFill>
              </a:rPr>
              <a:t>Conversational Q&amp;A over the team's reports, plus a written weekly summary</a:t>
            </a:r>
          </a:p>
          <a:p>
            <a:pPr>
              <a:lnSpc>
                <a:spcPct val="115000"/>
              </a:lnSpc>
              <a:spcAft>
                <a:spcPts val="1400"/>
              </a:spcAft>
            </a:pPr>
            <a:r>
              <a:rPr sz="1900" b="1">
                <a:solidFill>
                  <a:srgbClr val="513FD8"/>
                </a:solidFill>
              </a:rPr>
              <a:t>•  </a:t>
            </a:r>
            <a:r>
              <a:rPr sz="1900" b="1">
                <a:solidFill>
                  <a:srgbClr val="1E293B"/>
                </a:solidFill>
              </a:rPr>
              <a:t>Function calling, not RAG</a:t>
            </a:r>
            <a:r>
              <a:rPr sz="1900" b="0">
                <a:solidFill>
                  <a:srgbClr val="1E293B"/>
                </a:solidFill>
              </a:rPr>
              <a:t> — four read-only tools the model chooses between</a:t>
            </a:r>
          </a:p>
          <a:p>
            <a:pPr>
              <a:lnSpc>
                <a:spcPct val="115000"/>
              </a:lnSpc>
              <a:spcAft>
                <a:spcPts val="1400"/>
              </a:spcAft>
            </a:pPr>
            <a:r>
              <a:rPr sz="1900" b="1">
                <a:solidFill>
                  <a:srgbClr val="513FD8"/>
                </a:solidFill>
              </a:rPr>
              <a:t>•  </a:t>
            </a:r>
            <a:r>
              <a:rPr sz="1900" b="1">
                <a:solidFill>
                  <a:srgbClr val="1E293B"/>
                </a:solidFill>
              </a:rPr>
              <a:t>Every tool wraps an existing service</a:t>
            </a:r>
            <a:r>
              <a:rPr sz="1900" b="0">
                <a:solidFill>
                  <a:srgbClr val="1E293B"/>
                </a:solidFill>
              </a:rPr>
              <a:t>, so it inherits ReportAccessGuard</a:t>
            </a:r>
          </a:p>
          <a:p>
            <a:pPr>
              <a:lnSpc>
                <a:spcPct val="115000"/>
              </a:lnSpc>
              <a:spcAft>
                <a:spcPts val="1400"/>
              </a:spcAft>
            </a:pPr>
            <a:r>
              <a:rPr sz="1900" b="1">
                <a:solidFill>
                  <a:srgbClr val="513FD8"/>
                </a:solidFill>
              </a:rPr>
              <a:t>•  </a:t>
            </a:r>
            <a:r>
              <a:rPr sz="1900" b="1">
                <a:solidFill>
                  <a:srgbClr val="1E293B"/>
                </a:solidFill>
              </a:rPr>
              <a:t>No write tools at all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AI prompt design</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800" b="1">
                <a:solidFill>
                  <a:srgbClr val="513FD8"/>
                </a:solidFill>
              </a:rPr>
              <a:t>•  </a:t>
            </a:r>
            <a:r>
              <a:rPr sz="1800" b="1">
                <a:solidFill>
                  <a:srgbClr val="1E293B"/>
                </a:solidFill>
              </a:rPr>
              <a:t>Who is asking</a:t>
            </a:r>
            <a:r>
              <a:rPr sz="1800" b="0">
                <a:solidFill>
                  <a:srgbClr val="1E293B"/>
                </a:solidFill>
              </a:rPr>
              <a:t> — the manager's name, so answers read as addressed to them</a:t>
            </a:r>
          </a:p>
          <a:p>
            <a:pPr>
              <a:lnSpc>
                <a:spcPct val="115000"/>
              </a:lnSpc>
              <a:spcAft>
                <a:spcPts val="1400"/>
              </a:spcAft>
            </a:pPr>
            <a:r>
              <a:rPr sz="1800" b="1">
                <a:solidFill>
                  <a:srgbClr val="513FD8"/>
                </a:solidFill>
              </a:rPr>
              <a:t>•  </a:t>
            </a:r>
            <a:r>
              <a:rPr sz="1800" b="1">
                <a:solidFill>
                  <a:srgbClr val="1E293B"/>
                </a:solidFill>
              </a:rPr>
              <a:t>Today's date and the current Monday</a:t>
            </a:r>
            <a:r>
              <a:rPr sz="1800" b="0">
                <a:solidFill>
                  <a:srgbClr val="1E293B"/>
                </a:solidFill>
              </a:rPr>
              <a:t> — without it the model cannot resolve “this week”</a:t>
            </a:r>
          </a:p>
          <a:p>
            <a:pPr>
              <a:lnSpc>
                <a:spcPct val="115000"/>
              </a:lnSpc>
              <a:spcAft>
                <a:spcPts val="1400"/>
              </a:spcAft>
            </a:pPr>
            <a:r>
              <a:rPr sz="1800" b="1">
                <a:solidFill>
                  <a:srgbClr val="513FD8"/>
                </a:solidFill>
              </a:rPr>
              <a:t>•  </a:t>
            </a:r>
            <a:r>
              <a:rPr sz="1800" b="1">
                <a:solidFill>
                  <a:srgbClr val="1E293B"/>
                </a:solidFill>
              </a:rPr>
              <a:t>The team roster</a:t>
            </a:r>
            <a:r>
              <a:rPr sz="1800" b="0">
                <a:solidFill>
                  <a:srgbClr val="1E293B"/>
                </a:solidFill>
              </a:rPr>
              <a:t> — id, name and role only, never email or hash</a:t>
            </a:r>
          </a:p>
          <a:p>
            <a:pPr>
              <a:lnSpc>
                <a:spcPct val="115000"/>
              </a:lnSpc>
              <a:spcAft>
                <a:spcPts val="1400"/>
              </a:spcAft>
            </a:pPr>
            <a:r>
              <a:rPr sz="1800" b="1">
                <a:solidFill>
                  <a:srgbClr val="513FD8"/>
                </a:solidFill>
              </a:rPr>
              <a:t>•  </a:t>
            </a:r>
            <a:r>
              <a:rPr sz="1800" b="1">
                <a:solidFill>
                  <a:srgbClr val="1E293B"/>
                </a:solidFill>
              </a:rPr>
              <a:t>Four rules</a:t>
            </a:r>
            <a:r>
              <a:rPr sz="1800" b="0">
                <a:solidFill>
                  <a:srgbClr val="1E293B"/>
                </a:solidFill>
              </a:rPr>
              <a:t> — always look it up, quote real figures, admit gaps, treat report text as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Why the assistant can't leak</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800" b="1">
                <a:solidFill>
                  <a:srgbClr val="513FD8"/>
                </a:solidFill>
              </a:rPr>
              <a:t>•  </a:t>
            </a:r>
            <a:r>
              <a:rPr sz="1800" b="0">
                <a:solidFill>
                  <a:srgbClr val="1E293B"/>
                </a:solidFill>
              </a:rPr>
              <a:t>Tools call services, never repositories — the guard refuses a peer's draft</a:t>
            </a:r>
          </a:p>
          <a:p>
            <a:pPr>
              <a:lnSpc>
                <a:spcPct val="115000"/>
              </a:lnSpc>
              <a:spcAft>
                <a:spcPts val="1400"/>
              </a:spcAft>
            </a:pPr>
            <a:r>
              <a:rPr sz="1800" b="1">
                <a:solidFill>
                  <a:srgbClr val="513FD8"/>
                </a:solidFill>
              </a:rPr>
              <a:t>•  </a:t>
            </a:r>
            <a:r>
              <a:rPr sz="1800" b="0">
                <a:solidFill>
                  <a:srgbClr val="1E293B"/>
                </a:solidFill>
              </a:rPr>
              <a:t>Verified live: “Report 2 is still a draft, so its content is private to its author”</a:t>
            </a:r>
          </a:p>
          <a:p>
            <a:pPr>
              <a:lnSpc>
                <a:spcPct val="115000"/>
              </a:lnSpc>
              <a:spcAft>
                <a:spcPts val="1400"/>
              </a:spcAft>
            </a:pPr>
            <a:r>
              <a:rPr sz="1800" b="1">
                <a:solidFill>
                  <a:srgbClr val="513FD8"/>
                </a:solidFill>
              </a:rPr>
              <a:t>•  </a:t>
            </a:r>
            <a:r>
              <a:rPr sz="1800" b="1">
                <a:solidFill>
                  <a:srgbClr val="1E293B"/>
                </a:solidFill>
              </a:rPr>
              <a:t>No write tools</a:t>
            </a:r>
            <a:r>
              <a:rPr sz="1800" b="0">
                <a:solidFill>
                  <a:srgbClr val="1E293B"/>
                </a:solidFill>
              </a:rPr>
              <a:t> — the worst outcome of prompt injection is a wrong answer, never a wrong action</a:t>
            </a:r>
          </a:p>
          <a:p>
            <a:pPr>
              <a:lnSpc>
                <a:spcPct val="115000"/>
              </a:lnSpc>
              <a:spcAft>
                <a:spcPts val="1400"/>
              </a:spcAft>
            </a:pPr>
            <a:r>
              <a:rPr sz="1800" b="1">
                <a:solidFill>
                  <a:srgbClr val="513FD8"/>
                </a:solidFill>
              </a:rPr>
              <a:t>•  </a:t>
            </a:r>
            <a:r>
              <a:rPr sz="1800" b="0">
                <a:solidFill>
                  <a:srgbClr val="1E293B"/>
                </a:solidFill>
              </a:rPr>
              <a:t>Names, tasks and hours leave the machine; </a:t>
            </a:r>
            <a:r>
              <a:rPr sz="1800" b="1">
                <a:solidFill>
                  <a:srgbClr val="1E293B"/>
                </a:solidFill>
              </a:rPr>
              <a:t>emails and hashes never 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Testing</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900" b="1">
                <a:solidFill>
                  <a:srgbClr val="513FD8"/>
                </a:solidFill>
              </a:rPr>
              <a:t>•  </a:t>
            </a:r>
            <a:r>
              <a:rPr sz="1900" b="1">
                <a:solidFill>
                  <a:srgbClr val="1E293B"/>
                </a:solidFill>
              </a:rPr>
              <a:t>227 automated tests, 0 failures</a:t>
            </a:r>
            <a:r>
              <a:rPr sz="1900" b="0">
                <a:solidFill>
                  <a:srgbClr val="1E293B"/>
                </a:solidFill>
              </a:rPr>
              <a:t> — across 18 test classes</a:t>
            </a:r>
          </a:p>
          <a:p>
            <a:pPr>
              <a:lnSpc>
                <a:spcPct val="115000"/>
              </a:lnSpc>
              <a:spcAft>
                <a:spcPts val="1400"/>
              </a:spcAft>
            </a:pPr>
            <a:r>
              <a:rPr sz="1900" b="1">
                <a:solidFill>
                  <a:srgbClr val="513FD8"/>
                </a:solidFill>
              </a:rPr>
              <a:t>•  </a:t>
            </a:r>
            <a:r>
              <a:rPr sz="1900" b="0">
                <a:solidFill>
                  <a:srgbClr val="1E293B"/>
                </a:solidFill>
              </a:rPr>
              <a:t>Integration tests run against a separate MySQL schema, never the dev database</a:t>
            </a:r>
          </a:p>
          <a:p>
            <a:pPr>
              <a:lnSpc>
                <a:spcPct val="115000"/>
              </a:lnSpc>
              <a:spcAft>
                <a:spcPts val="1400"/>
              </a:spcAft>
            </a:pPr>
            <a:r>
              <a:rPr sz="1900" b="1">
                <a:solidFill>
                  <a:srgbClr val="513FD8"/>
                </a:solidFill>
              </a:rPr>
              <a:t>•  </a:t>
            </a:r>
            <a:r>
              <a:rPr sz="1900" b="1">
                <a:solidFill>
                  <a:srgbClr val="1E293B"/>
                </a:solidFill>
              </a:rPr>
              <a:t>Frontend: zero lint warnings</a:t>
            </a:r>
            <a:r>
              <a:rPr sz="1900" b="0">
                <a:solidFill>
                  <a:srgbClr val="1E293B"/>
                </a:solidFill>
              </a:rPr>
              <a:t>, clean tsc -b</a:t>
            </a:r>
          </a:p>
          <a:p>
            <a:pPr>
              <a:lnSpc>
                <a:spcPct val="115000"/>
              </a:lnSpc>
              <a:spcAft>
                <a:spcPts val="1400"/>
              </a:spcAft>
            </a:pPr>
            <a:r>
              <a:rPr sz="1900" b="1">
                <a:solidFill>
                  <a:srgbClr val="513FD8"/>
                </a:solidFill>
              </a:rPr>
              <a:t>•  </a:t>
            </a:r>
            <a:r>
              <a:rPr sz="1900" b="1">
                <a:solidFill>
                  <a:srgbClr val="1E293B"/>
                </a:solidFill>
              </a:rPr>
              <a:t>docs/MANUAL_TEST_PLAN.md</a:t>
            </a:r>
            <a:r>
              <a:rPr sz="1900" b="0">
                <a:solidFill>
                  <a:srgbClr val="1E293B"/>
                </a:solidFill>
              </a:rPr>
              <a:t> — 87 numbered manual tests with expected results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Challenges</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700" b="1">
                <a:solidFill>
                  <a:srgbClr val="513FD8"/>
                </a:solidFill>
              </a:rPr>
              <a:t>•  </a:t>
            </a:r>
            <a:r>
              <a:rPr sz="1700" b="1">
                <a:solidFill>
                  <a:srgbClr val="1E293B"/>
                </a:solidFill>
              </a:rPr>
              <a:t>Spring Boot 4 is newer than its documentation</a:t>
            </a:r>
            <a:r>
              <a:rPr sz="1700" b="0">
                <a:solidFill>
                  <a:srgbClr val="1E293B"/>
                </a:solidFill>
              </a:rPr>
              <a:t> — Flyway needs a second dependency or migrations silently never run</a:t>
            </a:r>
          </a:p>
          <a:p>
            <a:pPr>
              <a:lnSpc>
                <a:spcPct val="115000"/>
              </a:lnSpc>
              <a:spcAft>
                <a:spcPts val="1400"/>
              </a:spcAft>
            </a:pPr>
            <a:r>
              <a:rPr sz="1700" b="1">
                <a:solidFill>
                  <a:srgbClr val="513FD8"/>
                </a:solidFill>
              </a:rPr>
              <a:t>•  </a:t>
            </a:r>
            <a:r>
              <a:rPr sz="1700" b="1">
                <a:solidFill>
                  <a:srgbClr val="1E293B"/>
                </a:solidFill>
              </a:rPr>
              <a:t>Gemini thought signatures</a:t>
            </a:r>
            <a:r>
              <a:rPr sz="1700" b="0">
                <a:solidFill>
                  <a:srgbClr val="1E293B"/>
                </a:solidFill>
              </a:rPr>
              <a:t> — must be echoed verbatim or the next request 400s; a single-turn test never reveals it</a:t>
            </a:r>
          </a:p>
          <a:p>
            <a:pPr>
              <a:lnSpc>
                <a:spcPct val="115000"/>
              </a:lnSpc>
              <a:spcAft>
                <a:spcPts val="1400"/>
              </a:spcAft>
            </a:pPr>
            <a:r>
              <a:rPr sz="1700" b="1">
                <a:solidFill>
                  <a:srgbClr val="513FD8"/>
                </a:solidFill>
              </a:rPr>
              <a:t>•  </a:t>
            </a:r>
            <a:r>
              <a:rPr sz="1700" b="1">
                <a:solidFill>
                  <a:srgbClr val="1E293B"/>
                </a:solidFill>
              </a:rPr>
              <a:t>UnexpectedRollbackException</a:t>
            </a:r>
            <a:r>
              <a:rPr sz="1700" b="0">
                <a:solidFill>
                  <a:srgbClr val="1E293B"/>
                </a:solidFill>
              </a:rPr>
              <a:t> — a refused tool call marks the shared transaction rollback-only, so catching it isn't enough</a:t>
            </a:r>
          </a:p>
          <a:p>
            <a:pPr>
              <a:lnSpc>
                <a:spcPct val="115000"/>
              </a:lnSpc>
              <a:spcAft>
                <a:spcPts val="1400"/>
              </a:spcAft>
            </a:pPr>
            <a:r>
              <a:rPr sz="1700" b="1">
                <a:solidFill>
                  <a:srgbClr val="513FD8"/>
                </a:solidFill>
              </a:rPr>
              <a:t>•  </a:t>
            </a:r>
            <a:r>
              <a:rPr sz="1700" b="1">
                <a:solidFill>
                  <a:srgbClr val="1E293B"/>
                </a:solidFill>
              </a:rPr>
              <a:t>Tailwind preflight vs native &lt;dialog&gt;</a:t>
            </a:r>
            <a:r>
              <a:rPr sz="1700" b="0">
                <a:solidFill>
                  <a:srgbClr val="1E293B"/>
                </a:solidFill>
              </a:rPr>
              <a:t> — margin: 0 overrode the only rule that centres a modal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Future improvements</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800" b="1">
                <a:solidFill>
                  <a:srgbClr val="513FD8"/>
                </a:solidFill>
              </a:rPr>
              <a:t>•  </a:t>
            </a:r>
            <a:r>
              <a:rPr sz="1800" b="1">
                <a:solidFill>
                  <a:srgbClr val="1E293B"/>
                </a:solidFill>
              </a:rPr>
              <a:t>Deploy it</a:t>
            </a:r>
            <a:r>
              <a:rPr sz="1800" b="0">
                <a:solidFill>
                  <a:srgbClr val="1E293B"/>
                </a:solidFill>
              </a:rPr>
              <a:t> — allowed to be local-only, so it's the first thing I'd finish</a:t>
            </a:r>
          </a:p>
          <a:p>
            <a:pPr>
              <a:lnSpc>
                <a:spcPct val="115000"/>
              </a:lnSpc>
              <a:spcAft>
                <a:spcPts val="1400"/>
              </a:spcAft>
            </a:pPr>
            <a:r>
              <a:rPr sz="1800" b="1">
                <a:solidFill>
                  <a:srgbClr val="513FD8"/>
                </a:solidFill>
              </a:rPr>
              <a:t>•  </a:t>
            </a:r>
            <a:r>
              <a:rPr sz="1800" b="1">
                <a:solidFill>
                  <a:srgbClr val="1E293B"/>
                </a:solidFill>
              </a:rPr>
              <a:t>Email notifications</a:t>
            </a:r>
            <a:r>
              <a:rPr sz="1800" b="0">
                <a:solidFill>
                  <a:srgbClr val="1E293B"/>
                </a:solidFill>
              </a:rPr>
              <a:t> — a manager shouldn't have to open the app to know</a:t>
            </a:r>
          </a:p>
          <a:p>
            <a:pPr>
              <a:lnSpc>
                <a:spcPct val="115000"/>
              </a:lnSpc>
              <a:spcAft>
                <a:spcPts val="1400"/>
              </a:spcAft>
            </a:pPr>
            <a:r>
              <a:rPr sz="1800" b="1">
                <a:solidFill>
                  <a:srgbClr val="513FD8"/>
                </a:solidFill>
              </a:rPr>
              <a:t>•  </a:t>
            </a:r>
            <a:r>
              <a:rPr sz="1800" b="1">
                <a:solidFill>
                  <a:srgbClr val="1E293B"/>
                </a:solidFill>
              </a:rPr>
              <a:t>Assign members to projects</a:t>
            </a:r>
            <a:r>
              <a:rPr sz="1800" b="0">
                <a:solidFill>
                  <a:srgbClr val="1E293B"/>
                </a:solidFill>
              </a:rPr>
              <a:t> — optional in the brief; would scope the dropdown</a:t>
            </a:r>
          </a:p>
          <a:p>
            <a:pPr>
              <a:lnSpc>
                <a:spcPct val="115000"/>
              </a:lnSpc>
              <a:spcAft>
                <a:spcPts val="1400"/>
              </a:spcAft>
            </a:pPr>
            <a:r>
              <a:rPr sz="1800" b="1">
                <a:solidFill>
                  <a:srgbClr val="513FD8"/>
                </a:solidFill>
              </a:rPr>
              <a:t>•  </a:t>
            </a:r>
            <a:r>
              <a:rPr sz="1800" b="1">
                <a:solidFill>
                  <a:srgbClr val="1E293B"/>
                </a:solidFill>
              </a:rPr>
              <a:t>A schema-vs-diagram check in CI</a:t>
            </a:r>
            <a:r>
              <a:rPr sz="1800" b="0">
                <a:solidFill>
                  <a:srgbClr val="1E293B"/>
                </a:solidFill>
              </a:rPr>
              <a:t> — the ER diagram drifted twice</a:t>
            </a:r>
          </a:p>
          <a:p>
            <a:pPr>
              <a:lnSpc>
                <a:spcPct val="115000"/>
              </a:lnSpc>
              <a:spcAft>
                <a:spcPts val="1400"/>
              </a:spcAft>
            </a:pPr>
            <a:r>
              <a:rPr sz="1800" b="1">
                <a:solidFill>
                  <a:srgbClr val="513FD8"/>
                </a:solidFill>
              </a:rPr>
              <a:t>•  </a:t>
            </a:r>
            <a:r>
              <a:rPr sz="1800" b="1">
                <a:solidFill>
                  <a:srgbClr val="1E293B"/>
                </a:solidFill>
              </a:rPr>
              <a:t>Rate-limit the login endpoint</a:t>
            </a:r>
            <a:r>
              <a:rPr sz="1800" b="0">
                <a:solidFill>
                  <a:srgbClr val="1E293B"/>
                </a:solidFill>
              </a:rPr>
              <a:t> — nothing slows credential stuffing today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Summary</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10637215" cy="4434841"/>
          </a:xfrm>
          <a:prstGeom prst="rect">
            <a:avLst/>
          </a:prstGeom>
          <a:noFill/>
        </p:spPr>
        <p:txBody>
          <a:bodyPr wrap="square">
            <a:spAutoFit/>
          </a:bodyPr>
          <a:lstStyle/>
          <a:p>
            <a:pPr>
              <a:lnSpc>
                <a:spcPct val="115000"/>
              </a:lnSpc>
              <a:spcAft>
                <a:spcPts val="1400"/>
              </a:spcAft>
            </a:pPr>
            <a:r>
              <a:rPr sz="1900" b="1">
                <a:solidFill>
                  <a:srgbClr val="513FD8"/>
                </a:solidFill>
              </a:rPr>
              <a:t>•  </a:t>
            </a:r>
            <a:r>
              <a:rPr sz="1900" b="1">
                <a:solidFill>
                  <a:srgbClr val="1E293B"/>
                </a:solidFill>
              </a:rPr>
              <a:t>Complete review cycle</a:t>
            </a:r>
            <a:r>
              <a:rPr sz="1900" b="0">
                <a:solidFill>
                  <a:srgbClr val="1E293B"/>
                </a:solidFill>
              </a:rPr>
              <a:t> — submit → request changes → correct → approve, with version history</a:t>
            </a:r>
          </a:p>
          <a:p>
            <a:pPr>
              <a:lnSpc>
                <a:spcPct val="115000"/>
              </a:lnSpc>
              <a:spcAft>
                <a:spcPts val="1400"/>
              </a:spcAft>
            </a:pPr>
            <a:r>
              <a:rPr sz="1900" b="1">
                <a:solidFill>
                  <a:srgbClr val="513FD8"/>
                </a:solidFill>
              </a:rPr>
              <a:t>•  </a:t>
            </a:r>
            <a:r>
              <a:rPr sz="1900" b="1">
                <a:solidFill>
                  <a:srgbClr val="1E293B"/>
                </a:solidFill>
              </a:rPr>
              <a:t>10 of the brief's pages on real data · 33 endpoints · 9 tables · 227 tests</a:t>
            </a:r>
          </a:p>
          <a:p>
            <a:pPr>
              <a:lnSpc>
                <a:spcPct val="115000"/>
              </a:lnSpc>
              <a:spcAft>
                <a:spcPts val="1400"/>
              </a:spcAft>
            </a:pPr>
            <a:r>
              <a:rPr sz="1900" b="1">
                <a:solidFill>
                  <a:srgbClr val="513FD8"/>
                </a:solidFill>
              </a:rPr>
              <a:t>•  </a:t>
            </a:r>
            <a:r>
              <a:rPr sz="1900" b="0">
                <a:solidFill>
                  <a:srgbClr val="1E293B"/>
                </a:solidFill>
              </a:rPr>
              <a:t>Every bonus except deployment: RBAC tests, comment history, section comparison, AI chat</a:t>
            </a:r>
          </a:p>
          <a:p>
            <a:pPr>
              <a:lnSpc>
                <a:spcPct val="115000"/>
              </a:lnSpc>
              <a:spcAft>
                <a:spcPts val="1400"/>
              </a:spcAft>
            </a:pPr>
            <a:r>
              <a:rPr sz="1900" b="1">
                <a:solidFill>
                  <a:srgbClr val="513FD8"/>
                </a:solidFill>
              </a:rPr>
              <a:t>•  </a:t>
            </a:r>
            <a:r>
              <a:rPr sz="1900" b="0">
                <a:solidFill>
                  <a:srgbClr val="1E293B"/>
                </a:solidFill>
              </a:rPr>
              <a:t>Access control enforced at two layers and tested through the real filter chain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37215" cy="914400"/>
          </a:xfrm>
          <a:prstGeom prst="rect">
            <a:avLst/>
          </a:prstGeom>
          <a:noFill/>
        </p:spPr>
        <p:txBody>
          <a:bodyPr wrap="square">
            <a:spAutoFit/>
          </a:bodyPr>
          <a:lstStyle/>
          <a:p>
            <a:pPr>
              <a:defRPr sz="3400" b="1">
                <a:solidFill>
                  <a:srgbClr val="513FD8"/>
                </a:solidFill>
              </a:defRPr>
            </a:pPr>
            <a:r>
              <a:t>Appendix — likely questions</a:t>
            </a:r>
          </a:p>
        </p:txBody>
      </p:sp>
      <p:sp>
        <p:nvSpPr>
          <p:cNvPr id="3" name="Rectangle 2"/>
          <p:cNvSpPr/>
          <p:nvPr/>
        </p:nvSpPr>
        <p:spPr>
          <a:xfrm>
            <a:off x="777240" y="1298448"/>
            <a:ext cx="10637215" cy="9525"/>
          </a:xfrm>
          <a:prstGeom prst="rect">
            <a:avLst/>
          </a:prstGeom>
          <a:solidFill>
            <a:srgbClr val="513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89888"/>
            <a:ext cx="10637215" cy="411480"/>
          </a:xfrm>
          <a:prstGeom prst="rect">
            <a:avLst/>
          </a:prstGeom>
          <a:noFill/>
        </p:spPr>
        <p:txBody>
          <a:bodyPr wrap="square">
            <a:spAutoFit/>
          </a:bodyPr>
          <a:lstStyle/>
          <a:p>
            <a:pPr>
              <a:defRPr sz="1500" i="1">
                <a:solidFill>
                  <a:srgbClr val="5B6B84"/>
                </a:solidFill>
              </a:defRPr>
            </a:pPr>
            <a:r>
              <a:t>Hide this slide; it is for the live-coding round</a:t>
            </a:r>
          </a:p>
        </p:txBody>
      </p:sp>
      <p:graphicFrame>
        <p:nvGraphicFramePr>
          <p:cNvPr id="5" name="Table 4"/>
          <p:cNvGraphicFramePr>
            <a:graphicFrameLocks noGrp="1"/>
          </p:cNvGraphicFramePr>
          <p:nvPr/>
        </p:nvGraphicFramePr>
        <p:xfrm>
          <a:off x="777240" y="2103120"/>
          <a:ext cx="10637214" cy="3072384"/>
        </p:xfrm>
        <a:graphic>
          <a:graphicData uri="http://schemas.openxmlformats.org/drawingml/2006/table">
            <a:tbl>
              <a:tblPr firstRow="1" bandRow="1">
                <a:tableStyleId>{5C22544A-7EE6-4342-B048-85BDC9FD1C3A}</a:tableStyleId>
              </a:tblPr>
              <a:tblGrid>
                <a:gridCol w="3616653"/>
                <a:gridCol w="7020561"/>
              </a:tblGrid>
              <a:tr h="384048">
                <a:tc>
                  <a:txBody>
                    <a:bodyPr/>
                    <a:lstStyle/>
                    <a:p>
                      <a:pPr>
                        <a:defRPr sz="1300" b="1">
                          <a:solidFill>
                            <a:srgbClr val="FFFFFF"/>
                          </a:solidFill>
                        </a:defRPr>
                      </a:pPr>
                      <a:r>
                        <a:t>Question</a:t>
                      </a:r>
                    </a:p>
                  </a:txBody>
                  <a:tcPr marL="128016"/>
                </a:tc>
                <a:tc>
                  <a:txBody>
                    <a:bodyPr/>
                    <a:lstStyle/>
                    <a:p>
                      <a:pPr>
                        <a:defRPr sz="1300" b="1">
                          <a:solidFill>
                            <a:srgbClr val="FFFFFF"/>
                          </a:solidFill>
                        </a:defRPr>
                      </a:pPr>
                      <a:r>
                        <a:t>Answer</a:t>
                      </a:r>
                    </a:p>
                  </a:txBody>
                  <a:tcPr marL="128016"/>
                </a:tc>
              </a:tr>
              <a:tr h="384048">
                <a:tc>
                  <a:txBody>
                    <a:bodyPr/>
                    <a:lstStyle/>
                    <a:p>
                      <a:pPr>
                        <a:defRPr sz="1300" b="0">
                          <a:solidFill>
                            <a:srgbClr val="1E293B"/>
                          </a:solidFill>
                        </a:defRPr>
                      </a:pPr>
                      <a:r>
                        <a:t>Why no current_version_id?</a:t>
                      </a:r>
                    </a:p>
                  </a:txBody>
                  <a:tcPr marL="128016"/>
                </a:tc>
                <a:tc>
                  <a:txBody>
                    <a:bodyPr/>
                    <a:lstStyle/>
                    <a:p>
                      <a:pPr>
                        <a:defRPr sz="1300" b="0">
                          <a:solidFill>
                            <a:srgbClr val="1E293B"/>
                          </a:solidFill>
                        </a:defRPr>
                      </a:pPr>
                      <a:r>
                        <a:t>Circular FK between reports and report_versions</a:t>
                      </a:r>
                    </a:p>
                  </a:txBody>
                  <a:tcPr marL="128016"/>
                </a:tc>
              </a:tr>
              <a:tr h="384048">
                <a:tc>
                  <a:txBody>
                    <a:bodyPr/>
                    <a:lstStyle/>
                    <a:p>
                      <a:pPr>
                        <a:defRPr sz="1300" b="0">
                          <a:solidFill>
                            <a:srgbClr val="1E293B"/>
                          </a:solidFill>
                        </a:defRPr>
                      </a:pPr>
                      <a:r>
                        <a:t>Why 404 for a peer's report?</a:t>
                      </a:r>
                    </a:p>
                  </a:txBody>
                  <a:tcPr marL="128016"/>
                </a:tc>
                <a:tc>
                  <a:txBody>
                    <a:bodyPr/>
                    <a:lstStyle/>
                    <a:p>
                      <a:pPr>
                        <a:defRPr sz="1300" b="0">
                          <a:solidFill>
                            <a:srgbClr val="1E293B"/>
                          </a:solidFill>
                        </a:defRPr>
                      </a:pPr>
                      <a:r>
                        <a:t>403 would confirm the id exists — enumeration</a:t>
                      </a:r>
                    </a:p>
                  </a:txBody>
                  <a:tcPr marL="128016"/>
                </a:tc>
              </a:tr>
              <a:tr h="384048">
                <a:tc>
                  <a:txBody>
                    <a:bodyPr/>
                    <a:lstStyle/>
                    <a:p>
                      <a:pPr>
                        <a:defRPr sz="1300" b="0">
                          <a:solidFill>
                            <a:srgbClr val="1E293B"/>
                          </a:solidFill>
                        </a:defRPr>
                      </a:pPr>
                      <a:r>
                        <a:t>Why fork on edit, not submit?</a:t>
                      </a:r>
                    </a:p>
                  </a:txBody>
                  <a:tcPr marL="128016"/>
                </a:tc>
                <a:tc>
                  <a:txBody>
                    <a:bodyPr/>
                    <a:lstStyle/>
                    <a:p>
                      <a:pPr>
                        <a:defRPr sz="1300" b="0">
                          <a:solidFill>
                            <a:srgbClr val="1E293B"/>
                          </a:solidFill>
                        </a:defRPr>
                      </a:pPr>
                      <a:r>
                        <a:t>Submitting and never editing again leaves a spare empty version</a:t>
                      </a:r>
                    </a:p>
                  </a:txBody>
                  <a:tcPr marL="128016"/>
                </a:tc>
              </a:tr>
              <a:tr h="384048">
                <a:tc>
                  <a:txBody>
                    <a:bodyPr/>
                    <a:lstStyle/>
                    <a:p>
                      <a:pPr>
                        <a:defRPr sz="1300" b="0">
                          <a:solidFill>
                            <a:srgbClr val="1E293B"/>
                          </a:solidFill>
                        </a:defRPr>
                      </a:pPr>
                      <a:r>
                        <a:t>Why no charting library?</a:t>
                      </a:r>
                    </a:p>
                  </a:txBody>
                  <a:tcPr marL="128016"/>
                </a:tc>
                <a:tc>
                  <a:txBody>
                    <a:bodyPr/>
                    <a:lstStyle/>
                    <a:p>
                      <a:pPr>
                        <a:defRPr sz="1300" b="0">
                          <a:solidFill>
                            <a:srgbClr val="1E293B"/>
                          </a:solidFill>
                        </a:defRPr>
                      </a:pPr>
                      <a:r>
                        <a:t>Four simple charts — less code than learning a dependency's API</a:t>
                      </a:r>
                    </a:p>
                  </a:txBody>
                  <a:tcPr marL="128016"/>
                </a:tc>
              </a:tr>
              <a:tr h="384048">
                <a:tc>
                  <a:txBody>
                    <a:bodyPr/>
                    <a:lstStyle/>
                    <a:p>
                      <a:pPr>
                        <a:defRPr sz="1300" b="0">
                          <a:solidFill>
                            <a:srgbClr val="1E293B"/>
                          </a:solidFill>
                        </a:defRPr>
                      </a:pPr>
                      <a:r>
                        <a:t>Why isn't AssistantService @Transactional?</a:t>
                      </a:r>
                    </a:p>
                  </a:txBody>
                  <a:tcPr marL="128016"/>
                </a:tc>
                <a:tc>
                  <a:txBody>
                    <a:bodyPr/>
                    <a:lstStyle/>
                    <a:p>
                      <a:pPr>
                        <a:defRPr sz="1300" b="0">
                          <a:solidFill>
                            <a:srgbClr val="1E293B"/>
                          </a:solidFill>
                        </a:defRPr>
                      </a:pPr>
                      <a:r>
                        <a:t>A refused tool call marks the shared transaction rollback-only</a:t>
                      </a:r>
                    </a:p>
                  </a:txBody>
                  <a:tcPr marL="128016"/>
                </a:tc>
              </a:tr>
              <a:tr h="384048">
                <a:tc>
                  <a:txBody>
                    <a:bodyPr/>
                    <a:lstStyle/>
                    <a:p>
                      <a:pPr>
                        <a:defRPr sz="1300" b="0">
                          <a:solidFill>
                            <a:srgbClr val="1E293B"/>
                          </a:solidFill>
                        </a:defRPr>
                      </a:pPr>
                      <a:r>
                        <a:t>Why is a wrong password 400, not 401?</a:t>
                      </a:r>
                    </a:p>
                  </a:txBody>
                  <a:tcPr marL="128016"/>
                </a:tc>
                <a:tc>
                  <a:txBody>
                    <a:bodyPr/>
                    <a:lstStyle/>
                    <a:p>
                      <a:pPr>
                        <a:defRPr sz="1300" b="0">
                          <a:solidFill>
                            <a:srgbClr val="1E293B"/>
                          </a:solidFill>
                        </a:defRPr>
                      </a:pPr>
                      <a:r>
                        <a:t>The API client signs the user out on any 401 — a typo would end the session</a:t>
                      </a:r>
                    </a:p>
                  </a:txBody>
                  <a:tcPr marL="128016"/>
                </a:tc>
              </a:tr>
              <a:tr h="384048">
                <a:tc>
                  <a:txBody>
                    <a:bodyPr/>
                    <a:lstStyle/>
                    <a:p>
                      <a:pPr>
                        <a:defRPr sz="1300" b="0">
                          <a:solidFill>
                            <a:srgbClr val="1E293B"/>
                          </a:solidFill>
                        </a:defRPr>
                      </a:pPr>
                      <a:r>
                        <a:t>Why filter/paginate in the browser?</a:t>
                      </a:r>
                    </a:p>
                  </a:txBody>
                  <a:tcPr marL="128016"/>
                </a:tc>
                <a:tc>
                  <a:txBody>
                    <a:bodyPr/>
                    <a:lstStyle/>
                    <a:p>
                      <a:pPr>
                        <a:defRPr sz="1300" b="0">
                          <a:solidFill>
                            <a:srgbClr val="1E293B"/>
                          </a:solidFill>
                        </a:defRPr>
                      </a:pPr>
                      <a:r>
                        <a:t>Those endpoints return everything in one response</a:t>
                      </a:r>
                    </a:p>
                  </a:txBody>
                  <a:tcPr marL="128016"/>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